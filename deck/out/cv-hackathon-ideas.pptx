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917"/>
        </a:solidFill>
        <a:effectLst/>
      </p:bgPr>
    </p:bg>
    <p:spTree>
      <p:nvGrpSpPr>
        <p:cNvPr id="1" name=""/>
        <p:cNvGrpSpPr/>
        <p:nvPr/>
      </p:nvGrpSpPr>
      <p:grpSpPr/>
      <p:sp>
        <p:nvSpPr>
          <p:cNvPr id="2" name="TextBox 1"/>
          <p:cNvSpPr txBox="1"/>
          <p:nvPr/>
        </p:nvSpPr>
        <p:spPr>
          <a:xfrm>
            <a:off x="838197" y="1600195"/>
            <a:ext cx="8572478" cy="228599"/>
          </a:xfrm>
          <a:prstGeom prst="rect">
            <a:avLst/>
          </a:prstGeom>
          <a:noFill/>
        </p:spPr>
        <p:txBody>
          <a:bodyPr wrap="square" anchor="t" lIns="0" rIns="0" tIns="0" bIns="0">
            <a:spAutoFit/>
          </a:bodyPr>
          <a:lstStyle/>
          <a:p>
            <a:pPr>
              <a:spcBef>
                <a:spcPts val="0"/>
              </a:spcBef>
              <a:spcAft>
                <a:spcPts val="0"/>
              </a:spcAft>
            </a:pPr>
            <a:r>
              <a:rPr sz="975" b="1">
                <a:solidFill>
                  <a:srgbClr val="9A9792"/>
                </a:solidFill>
                <a:latin typeface="Helvetica Neue"/>
              </a:rPr>
              <a:t>WIUT HACKATHON 26 · COMPUTER VISION TRACK</a:t>
            </a:r>
          </a:p>
        </p:txBody>
      </p:sp>
      <p:sp>
        <p:nvSpPr>
          <p:cNvPr id="3" name="TextBox 2"/>
          <p:cNvSpPr txBox="1"/>
          <p:nvPr/>
        </p:nvSpPr>
        <p:spPr>
          <a:xfrm>
            <a:off x="838197" y="1943095"/>
            <a:ext cx="9524976" cy="1714495"/>
          </a:xfrm>
          <a:prstGeom prst="rect">
            <a:avLst/>
          </a:prstGeom>
          <a:noFill/>
        </p:spPr>
        <p:txBody>
          <a:bodyPr wrap="square" anchor="t" lIns="0" rIns="0" tIns="0" bIns="0">
            <a:spAutoFit/>
          </a:bodyPr>
          <a:lstStyle/>
          <a:p>
            <a:pPr>
              <a:lnSpc>
                <a:spcPct val="104000"/>
              </a:lnSpc>
              <a:spcBef>
                <a:spcPts val="0"/>
              </a:spcBef>
              <a:spcAft>
                <a:spcPts val="0"/>
              </a:spcAft>
            </a:pPr>
            <a:r>
              <a:rPr sz="5700" b="1">
                <a:solidFill>
                  <a:srgbClr val="FFFFFF"/>
                </a:solidFill>
                <a:latin typeface="Helvetica Neue"/>
              </a:rPr>
              <a:t>91 computer-vision startup ideas</a:t>
            </a:r>
          </a:p>
        </p:txBody>
      </p:sp>
      <p:sp>
        <p:nvSpPr>
          <p:cNvPr id="4" name="TextBox 3"/>
          <p:cNvSpPr txBox="1"/>
          <p:nvPr/>
        </p:nvSpPr>
        <p:spPr>
          <a:xfrm>
            <a:off x="838197" y="2857492"/>
            <a:ext cx="8381979" cy="857247"/>
          </a:xfrm>
          <a:prstGeom prst="rect">
            <a:avLst/>
          </a:prstGeom>
          <a:noFill/>
        </p:spPr>
        <p:txBody>
          <a:bodyPr wrap="square" anchor="t" lIns="0" rIns="0" tIns="0" bIns="0">
            <a:spAutoFit/>
          </a:bodyPr>
          <a:lstStyle/>
          <a:p>
            <a:pPr>
              <a:lnSpc>
                <a:spcPct val="140000"/>
              </a:lnSpc>
              <a:spcBef>
                <a:spcPts val="0"/>
              </a:spcBef>
              <a:spcAft>
                <a:spcPts val="0"/>
              </a:spcAft>
            </a:pPr>
            <a:r>
              <a:rPr sz="1875" b="0">
                <a:solidFill>
                  <a:srgbClr val="C8C5C0"/>
                </a:solidFill>
                <a:latin typeface="Helvetica Neue"/>
              </a:rPr>
              <a:t>Ranked for an investor jury. Two pages per idea: the idea in plain words, then how it works and what it costs.</a:t>
            </a:r>
          </a:p>
        </p:txBody>
      </p:sp>
      <p:sp>
        <p:nvSpPr>
          <p:cNvPr id="5" name="TextBox 4"/>
          <p:cNvSpPr txBox="1"/>
          <p:nvPr/>
        </p:nvSpPr>
        <p:spPr>
          <a:xfrm>
            <a:off x="838197" y="3924290"/>
            <a:ext cx="8572478" cy="857247"/>
          </a:xfrm>
          <a:prstGeom prst="rect">
            <a:avLst/>
          </a:prstGeom>
          <a:noFill/>
        </p:spPr>
        <p:txBody>
          <a:bodyPr wrap="square" anchor="t" lIns="0" rIns="0" tIns="0" bIns="0">
            <a:spAutoFit/>
          </a:bodyPr>
          <a:lstStyle/>
          <a:p>
            <a:pPr>
              <a:spcAft>
                <a:spcPts val="500"/>
              </a:spcAft>
            </a:pPr>
            <a:r>
              <a:rPr sz="1125" b="0">
                <a:solidFill>
                  <a:srgbClr val="8A8782"/>
                </a:solidFill>
                <a:latin typeface="Helvetica Neue"/>
              </a:rPr>
              <a:t>Team UsedByAI · Tashkent · 10 October 2026</a:t>
            </a:r>
          </a:p>
          <a:p>
            <a:pPr>
              <a:spcAft>
                <a:spcPts val="500"/>
              </a:spcAft>
            </a:pPr>
            <a:r>
              <a:rPr sz="1125" b="0">
                <a:solidFill>
                  <a:srgbClr val="8A8782"/>
                </a:solidFill>
                <a:latin typeface="Helvetica Neue"/>
              </a:rPr>
              <a:t>168 generated → 143 checked by web-searching skeptics → 91 kept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0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ORDER</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Three tiers, ranked for investors</a:t>
            </a:r>
          </a:p>
        </p:txBody>
      </p:sp>
      <p:graphicFrame>
        <p:nvGraphicFramePr>
          <p:cNvPr id="4" name="Table 3"/>
          <p:cNvGraphicFramePr>
            <a:graphicFrameLocks noGrp="1"/>
          </p:cNvGraphicFramePr>
          <p:nvPr/>
        </p:nvGraphicFramePr>
        <p:xfrm>
          <a:off x="838197" y="1733545"/>
          <a:ext cx="10515572" cy="1466846"/>
        </p:xfrm>
        <a:graphic>
          <a:graphicData uri="http://schemas.openxmlformats.org/drawingml/2006/table">
            <a:tbl>
              <a:tblPr firstRow="1" bandRow="1">
                <a:tableStyleId>{5C22544A-7EE6-4342-B048-85BDC9FD1C3A}</a:tableStyleId>
              </a:tblPr>
              <a:tblGrid>
                <a:gridCol w="4486644"/>
                <a:gridCol w="3014464"/>
                <a:gridCol w="3014464"/>
              </a:tblGrid>
              <a:tr h="323849">
                <a:tc>
                  <a:txBody>
                    <a:bodyPr wrap="square"/>
                    <a:lstStyle/>
                    <a:p>
                      <a:r>
                        <a:rPr sz="900" b="1">
                          <a:solidFill>
                            <a:srgbClr val="FFFFFF"/>
                          </a:solidFill>
                          <a:latin typeface="Helvetica Neue"/>
                        </a:rPr>
                        <a:t>TIER</a:t>
                      </a:r>
                    </a:p>
                  </a:txBody>
                  <a:tcPr marL="57149" marR="57149" marT="47624" marB="47624">
                    <a:solidFill>
                      <a:srgbClr val="C2492D"/>
                    </a:solidFill>
                  </a:tcPr>
                </a:tc>
                <a:tc>
                  <a:txBody>
                    <a:bodyPr wrap="square"/>
                    <a:lstStyle/>
                    <a:p>
                      <a:r>
                        <a:rPr sz="900" b="1">
                          <a:solidFill>
                            <a:srgbClr val="FFFFFF"/>
                          </a:solidFill>
                          <a:latin typeface="Helvetica Neue"/>
                        </a:rPr>
                        <a:t>WHAT IT MEANS</a:t>
                      </a:r>
                    </a:p>
                  </a:txBody>
                  <a:tcPr marL="57149" marR="57149" marT="47624" marB="47624">
                    <a:solidFill>
                      <a:srgbClr val="C2492D"/>
                    </a:solidFill>
                  </a:tcPr>
                </a:tc>
                <a:tc>
                  <a:txBody>
                    <a:bodyPr wrap="square"/>
                    <a:lstStyle/>
                    <a:p>
                      <a:r>
                        <a:rPr sz="900" b="1">
                          <a:solidFill>
                            <a:srgbClr val="FFFFFF"/>
                          </a:solidFill>
                          <a:latin typeface="Helvetica Neue"/>
                        </a:rPr>
                        <a:t>IDEAS</a:t>
                      </a:r>
                    </a:p>
                  </a:txBody>
                  <a:tcPr marL="57149" marR="57149" marT="47624" marB="47624">
                    <a:solidFill>
                      <a:srgbClr val="C2492D"/>
                    </a:solidFill>
                  </a:tcPr>
                </a:tc>
              </a:tr>
              <a:tr h="380999">
                <a:tc>
                  <a:txBody>
                    <a:bodyPr wrap="square"/>
                    <a:lstStyle/>
                    <a:p>
                      <a:r>
                        <a:rPr sz="1350" b="1">
                          <a:solidFill>
                            <a:srgbClr val="973923"/>
                          </a:solidFill>
                          <a:latin typeface="Helvetica Neue"/>
                        </a:rPr>
                        <a:t>A</a:t>
                      </a:r>
                      <a:r>
                        <a:rPr sz="1350" b="1">
                          <a:solidFill>
                            <a:srgbClr val="973923"/>
                          </a:solidFill>
                          <a:latin typeface="Helvetica Neue"/>
                        </a:rPr>
                        <a:t> · Fundable stories</a:t>
                      </a:r>
                    </a:p>
                  </a:txBody>
                  <a:tcPr marL="57149" marR="57149" marT="47624" marB="47624" anchor="t">
                    <a:solidFill>
                      <a:srgbClr val="FBF4F2"/>
                    </a:solidFill>
                  </a:tcPr>
                </a:tc>
                <a:tc>
                  <a:txBody>
                    <a:bodyPr wrap="square"/>
                    <a:lstStyle/>
                    <a:p>
                      <a:r>
                        <a:rPr sz="1350" b="0">
                          <a:solidFill>
                            <a:srgbClr val="4A4741"/>
                          </a:solidFill>
                          <a:latin typeface="Helvetica Neue"/>
                        </a:rPr>
                        <a:t>Clear payer, repeat revenue, strong moat</a:t>
                      </a:r>
                    </a:p>
                  </a:txBody>
                  <a:tcPr marL="57149" marR="57149" marT="47624" marB="47624" anchor="t">
                    <a:solidFill>
                      <a:srgbClr val="FBF4F2"/>
                    </a:solidFill>
                  </a:tcPr>
                </a:tc>
                <a:tc>
                  <a:txBody>
                    <a:bodyPr wrap="square"/>
                    <a:lstStyle/>
                    <a:p>
                      <a:pPr algn="r"/>
                      <a:r>
                        <a:rPr sz="1350" b="0">
                          <a:solidFill>
                            <a:srgbClr val="4A4741"/>
                          </a:solidFill>
                          <a:latin typeface="Helvetica Neue"/>
                        </a:rPr>
                        <a:t>26</a:t>
                      </a:r>
                    </a:p>
                  </a:txBody>
                  <a:tcPr marL="57149" marR="57149" marT="47624" marB="47624" anchor="t">
                    <a:solidFill>
                      <a:srgbClr val="FBF4F2"/>
                    </a:solidFill>
                  </a:tcPr>
                </a:tc>
              </a:tr>
              <a:tr h="380999">
                <a:tc>
                  <a:txBody>
                    <a:bodyPr wrap="square"/>
                    <a:lstStyle/>
                    <a:p>
                      <a:r>
                        <a:rPr sz="1350" b="1">
                          <a:solidFill>
                            <a:srgbClr val="973923"/>
                          </a:solidFill>
                          <a:latin typeface="Helvetica Neue"/>
                        </a:rPr>
                        <a:t>B</a:t>
                      </a:r>
                      <a:r>
                        <a:rPr sz="1350" b="1">
                          <a:solidFill>
                            <a:srgbClr val="973923"/>
                          </a:solidFill>
                          <a:latin typeface="Helvetica Neue"/>
                        </a:rPr>
                        <a:t> · Solid B2B niches</a:t>
                      </a:r>
                    </a:p>
                  </a:txBody>
                  <a:tcPr marL="57149" marR="57149" marT="47624" marB="47624" anchor="t">
                    <a:noFill/>
                  </a:tcPr>
                </a:tc>
                <a:tc>
                  <a:txBody>
                    <a:bodyPr wrap="square"/>
                    <a:lstStyle/>
                    <a:p>
                      <a:r>
                        <a:rPr sz="1350" b="0">
                          <a:solidFill>
                            <a:srgbClr val="4A4741"/>
                          </a:solidFill>
                          <a:latin typeface="Helvetica Neue"/>
                        </a:rPr>
                        <a:t>Real payers, smaller markets, good modules</a:t>
                      </a:r>
                    </a:p>
                  </a:txBody>
                  <a:tcPr marL="57149" marR="57149" marT="47624" marB="47624" anchor="t">
                    <a:noFill/>
                  </a:tcPr>
                </a:tc>
                <a:tc>
                  <a:txBody>
                    <a:bodyPr wrap="square"/>
                    <a:lstStyle/>
                    <a:p>
                      <a:pPr algn="r"/>
                      <a:r>
                        <a:rPr sz="1350" b="0">
                          <a:solidFill>
                            <a:srgbClr val="4A4741"/>
                          </a:solidFill>
                          <a:latin typeface="Helvetica Neue"/>
                        </a:rPr>
                        <a:t>29</a:t>
                      </a:r>
                    </a:p>
                  </a:txBody>
                  <a:tcPr marL="57149" marR="57149" marT="47624" marB="47624" anchor="t">
                    <a:noFill/>
                  </a:tcPr>
                </a:tc>
              </a:tr>
              <a:tr h="380999">
                <a:tc>
                  <a:txBody>
                    <a:bodyPr wrap="square"/>
                    <a:lstStyle/>
                    <a:p>
                      <a:r>
                        <a:rPr sz="1350" b="1">
                          <a:solidFill>
                            <a:srgbClr val="973923"/>
                          </a:solidFill>
                          <a:latin typeface="Helvetica Neue"/>
                        </a:rPr>
                        <a:t>C</a:t>
                      </a:r>
                      <a:r>
                        <a:rPr sz="1350" b="1">
                          <a:solidFill>
                            <a:srgbClr val="973923"/>
                          </a:solidFill>
                          <a:latin typeface="Helvetica Neue"/>
                        </a:rPr>
                        <a:t> · Hard investor case</a:t>
                      </a:r>
                    </a:p>
                  </a:txBody>
                  <a:tcPr marL="57149" marR="57149" marT="47624" marB="47624" anchor="t">
                    <a:solidFill>
                      <a:srgbClr val="FBF4F2"/>
                    </a:solidFill>
                  </a:tcPr>
                </a:tc>
                <a:tc>
                  <a:txBody>
                    <a:bodyPr wrap="square"/>
                    <a:lstStyle/>
                    <a:p>
                      <a:r>
                        <a:rPr sz="1350" b="0">
                          <a:solidFill>
                            <a:srgbClr val="4A4741"/>
                          </a:solidFill>
                          <a:latin typeface="Helvetica Neue"/>
                        </a:rPr>
                        <a:t>City-only payer, small ticket or a feature</a:t>
                      </a:r>
                    </a:p>
                  </a:txBody>
                  <a:tcPr marL="57149" marR="57149" marT="47624" marB="47624" anchor="t">
                    <a:solidFill>
                      <a:srgbClr val="FBF4F2"/>
                    </a:solidFill>
                  </a:tcPr>
                </a:tc>
                <a:tc>
                  <a:txBody>
                    <a:bodyPr wrap="square"/>
                    <a:lstStyle/>
                    <a:p>
                      <a:pPr algn="r"/>
                      <a:r>
                        <a:rPr sz="1350" b="0">
                          <a:solidFill>
                            <a:srgbClr val="4A4741"/>
                          </a:solidFill>
                          <a:latin typeface="Helvetica Neue"/>
                        </a:rPr>
                        <a:t>36</a:t>
                      </a:r>
                    </a:p>
                  </a:txBody>
                  <a:tcPr marL="57149" marR="57149" marT="47624" marB="47624" anchor="t">
                    <a:solidFill>
                      <a:srgbClr val="FBF4F2"/>
                    </a:solidFill>
                  </a:tcPr>
                </a:tc>
              </a:tr>
            </a:tbl>
          </a:graphicData>
        </a:graphic>
      </p:graphicFrame>
      <p:sp>
        <p:nvSpPr>
          <p:cNvPr id="5" name="TextBox 4"/>
          <p:cNvSpPr txBox="1"/>
          <p:nvPr/>
        </p:nvSpPr>
        <p:spPr>
          <a:xfrm>
            <a:off x="838197" y="5829285"/>
            <a:ext cx="10515573" cy="380999"/>
          </a:xfrm>
          <a:prstGeom prst="rect">
            <a:avLst/>
          </a:prstGeom>
          <a:noFill/>
        </p:spPr>
        <p:txBody>
          <a:bodyPr wrap="square" anchor="t" lIns="0" rIns="0" tIns="0" bIns="0">
            <a:spAutoFit/>
          </a:bodyPr>
          <a:lstStyle/>
          <a:p>
            <a:pPr>
              <a:lnSpc>
                <a:spcPct val="145000"/>
              </a:lnSpc>
              <a:spcBef>
                <a:spcPts val="0"/>
              </a:spcBef>
              <a:spcAft>
                <a:spcPts val="0"/>
              </a:spcAft>
            </a:pPr>
            <a:r>
              <a:rPr sz="1087" b="0">
                <a:solidFill>
                  <a:srgbClr val="7C7871"/>
                </a:solidFill>
                <a:latin typeface="Helvetica Neue"/>
              </a:rPr>
              <a:t>Ranking re-weights the verifiers' scores for investors (business and moat count double). Related modules sit right after their lead idea.</a:t>
            </a:r>
          </a:p>
        </p:txBody>
      </p:sp>
      <p:sp>
        <p:nvSpPr>
          <p:cNvPr id="6" name="TextBox 5"/>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Investor re-ranking of verifier sub-scores, 10 Oct 2026</a:t>
            </a:r>
          </a:p>
        </p:txBody>
      </p:sp>
      <p:sp>
        <p:nvSpPr>
          <p:cNvPr id="7" name="TextBox 6"/>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3</a:t>
            </a:r>
          </a:p>
        </p:txBody>
      </p:sp>
      <p:sp>
        <p:nvSpPr>
          <p:cNvPr id="8" name="Rectangle 7"/>
          <p:cNvSpPr/>
          <p:nvPr/>
        </p:nvSpPr>
        <p:spPr>
          <a:xfrm>
            <a:off x="0" y="0"/>
            <a:ext cx="12191969" cy="66674"/>
          </a:xfrm>
          <a:prstGeom prst="rect">
            <a:avLst/>
          </a:prstGeom>
          <a:solidFill>
            <a:srgbClr val="C24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ANATOMY</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How to read each idea</a:t>
            </a:r>
          </a:p>
        </p:txBody>
      </p:sp>
      <p:graphicFrame>
        <p:nvGraphicFramePr>
          <p:cNvPr id="4" name="Table 3"/>
          <p:cNvGraphicFramePr>
            <a:graphicFrameLocks noGrp="1"/>
          </p:cNvGraphicFramePr>
          <p:nvPr/>
        </p:nvGraphicFramePr>
        <p:xfrm>
          <a:off x="838197" y="1733545"/>
          <a:ext cx="10515573" cy="2609843"/>
        </p:xfrm>
        <a:graphic>
          <a:graphicData uri="http://schemas.openxmlformats.org/drawingml/2006/table">
            <a:tbl>
              <a:tblPr firstRow="1" bandRow="1">
                <a:tableStyleId>{5C22544A-7EE6-4342-B048-85BDC9FD1C3A}</a:tableStyleId>
              </a:tblPr>
              <a:tblGrid>
                <a:gridCol w="6729967"/>
                <a:gridCol w="3785606"/>
              </a:tblGrid>
              <a:tr h="323849">
                <a:tc>
                  <a:txBody>
                    <a:bodyPr wrap="square"/>
                    <a:lstStyle/>
                    <a:p>
                      <a:r>
                        <a:rPr sz="900" b="1">
                          <a:solidFill>
                            <a:srgbClr val="FFFFFF"/>
                          </a:solidFill>
                          <a:latin typeface="Helvetica Neue"/>
                        </a:rPr>
                        <a:t>PAGE</a:t>
                      </a:r>
                    </a:p>
                  </a:txBody>
                  <a:tcPr marL="57149" marR="57149" marT="47624" marB="47624">
                    <a:solidFill>
                      <a:srgbClr val="C2492D"/>
                    </a:solidFill>
                  </a:tcPr>
                </a:tc>
                <a:tc>
                  <a:txBody>
                    <a:bodyPr wrap="square"/>
                    <a:lstStyle/>
                    <a:p>
                      <a:r>
                        <a:rPr sz="900" b="1">
                          <a:solidFill>
                            <a:srgbClr val="FFFFFF"/>
                          </a:solidFill>
                          <a:latin typeface="Helvetica Neue"/>
                        </a:rPr>
                        <a:t>WHAT IT TELLS YOU</a:t>
                      </a:r>
                    </a:p>
                  </a:txBody>
                  <a:tcPr marL="57149" marR="57149" marT="47624" marB="47624">
                    <a:solidFill>
                      <a:srgbClr val="C2492D"/>
                    </a:solidFill>
                  </a:tcPr>
                </a:tc>
              </a:tr>
              <a:tr h="380999">
                <a:tc>
                  <a:txBody>
                    <a:bodyPr wrap="square"/>
                    <a:lstStyle/>
                    <a:p>
                      <a:r>
                        <a:rPr sz="1162" b="1">
                          <a:solidFill>
                            <a:srgbClr val="973923"/>
                          </a:solidFill>
                          <a:latin typeface="Helvetica Neue"/>
                        </a:rPr>
                        <a:t>1 · The idea, left</a:t>
                      </a:r>
                    </a:p>
                  </a:txBody>
                  <a:tcPr marL="57149" marR="57149" marT="47624" marB="47624" anchor="t">
                    <a:solidFill>
                      <a:srgbClr val="FBF4F2"/>
                    </a:solidFill>
                  </a:tcPr>
                </a:tc>
                <a:tc>
                  <a:txBody>
                    <a:bodyPr wrap="square"/>
                    <a:lstStyle/>
                    <a:p>
                      <a:r>
                        <a:rPr sz="1162" b="0">
                          <a:solidFill>
                            <a:srgbClr val="4A4741"/>
                          </a:solidFill>
                          <a:latin typeface="Helvetica Neue"/>
                        </a:rPr>
                        <a:t>What it does and why it matters</a:t>
                      </a:r>
                    </a:p>
                  </a:txBody>
                  <a:tcPr marL="57149" marR="57149" marT="47624" marB="47624" anchor="t">
                    <a:solidFill>
                      <a:srgbClr val="FBF4F2"/>
                    </a:solidFill>
                  </a:tcPr>
                </a:tc>
              </a:tr>
              <a:tr h="380999">
                <a:tc>
                  <a:txBody>
                    <a:bodyPr wrap="square"/>
                    <a:lstStyle/>
                    <a:p>
                      <a:r>
                        <a:rPr sz="1162" b="1">
                          <a:solidFill>
                            <a:srgbClr val="973923"/>
                          </a:solidFill>
                          <a:latin typeface="Helvetica Neue"/>
                        </a:rPr>
                        <a:t>1 · The idea, right</a:t>
                      </a:r>
                    </a:p>
                  </a:txBody>
                  <a:tcPr marL="57149" marR="57149" marT="47624" marB="47624" anchor="t">
                    <a:noFill/>
                  </a:tcPr>
                </a:tc>
                <a:tc>
                  <a:txBody>
                    <a:bodyPr wrap="square"/>
                    <a:lstStyle/>
                    <a:p>
                      <a:r>
                        <a:rPr sz="1162" b="0">
                          <a:solidFill>
                            <a:srgbClr val="4A4741"/>
                          </a:solidFill>
                          <a:latin typeface="Helvetica Neue"/>
                        </a:rPr>
                        <a:t>Use cases and who buys it</a:t>
                      </a:r>
                    </a:p>
                  </a:txBody>
                  <a:tcPr marL="57149" marR="57149" marT="47624" marB="47624" anchor="t">
                    <a:noFill/>
                  </a:tcPr>
                </a:tc>
              </a:tr>
              <a:tr h="380999">
                <a:tc>
                  <a:txBody>
                    <a:bodyPr wrap="square"/>
                    <a:lstStyle/>
                    <a:p>
                      <a:r>
                        <a:rPr sz="1162" b="1">
                          <a:solidFill>
                            <a:srgbClr val="973923"/>
                          </a:solidFill>
                          <a:latin typeface="Helvetica Neue"/>
                        </a:rPr>
                        <a:t>2 · How it works</a:t>
                      </a:r>
                    </a:p>
                  </a:txBody>
                  <a:tcPr marL="57149" marR="57149" marT="47624" marB="47624" anchor="t">
                    <a:solidFill>
                      <a:srgbClr val="FBF4F2"/>
                    </a:solidFill>
                  </a:tcPr>
                </a:tc>
                <a:tc>
                  <a:txBody>
                    <a:bodyPr wrap="square"/>
                    <a:lstStyle/>
                    <a:p>
                      <a:r>
                        <a:rPr sz="1162" b="0">
                          <a:solidFill>
                            <a:srgbClr val="4A4741"/>
                          </a:solidFill>
                          <a:latin typeface="Helvetica Neue"/>
                        </a:rPr>
                        <a:t>Four steps; the red box is the decision</a:t>
                      </a:r>
                    </a:p>
                  </a:txBody>
                  <a:tcPr marL="57149" marR="57149" marT="47624" marB="47624" anchor="t">
                    <a:solidFill>
                      <a:srgbClr val="FBF4F2"/>
                    </a:solidFill>
                  </a:tcPr>
                </a:tc>
              </a:tr>
              <a:tr h="380999">
                <a:tc>
                  <a:txBody>
                    <a:bodyPr wrap="square"/>
                    <a:lstStyle/>
                    <a:p>
                      <a:r>
                        <a:rPr sz="1162" b="1">
                          <a:solidFill>
                            <a:srgbClr val="973923"/>
                          </a:solidFill>
                          <a:latin typeface="Helvetica Neue"/>
                        </a:rPr>
                        <a:t>2 · The cards</a:t>
                      </a:r>
                    </a:p>
                  </a:txBody>
                  <a:tcPr marL="57149" marR="57149" marT="47624" marB="47624" anchor="t">
                    <a:noFill/>
                  </a:tcPr>
                </a:tc>
                <a:tc>
                  <a:txBody>
                    <a:bodyPr wrap="square"/>
                    <a:lstStyle/>
                    <a:p>
                      <a:r>
                        <a:rPr sz="1162" b="0">
                          <a:solidFill>
                            <a:srgbClr val="4A4741"/>
                          </a:solidFill>
                          <a:latin typeface="Helvetica Neue"/>
                        </a:rPr>
                        <a:t>The key number, the build, price, demo</a:t>
                      </a:r>
                    </a:p>
                  </a:txBody>
                  <a:tcPr marL="57149" marR="57149" marT="47624" marB="47624" anchor="t">
                    <a:noFill/>
                  </a:tcPr>
                </a:tc>
              </a:tr>
              <a:tr h="380999">
                <a:tc>
                  <a:txBody>
                    <a:bodyPr wrap="square"/>
                    <a:lstStyle/>
                    <a:p>
                      <a:r>
                        <a:rPr sz="1162" b="1">
                          <a:solidFill>
                            <a:srgbClr val="973923"/>
                          </a:solidFill>
                          <a:latin typeface="Helvetica Neue"/>
                        </a:rPr>
                        <a:t>2 · Bottom note</a:t>
                      </a:r>
                    </a:p>
                  </a:txBody>
                  <a:tcPr marL="57149" marR="57149" marT="47624" marB="47624" anchor="t">
                    <a:solidFill>
                      <a:srgbClr val="FBF4F2"/>
                    </a:solidFill>
                  </a:tcPr>
                </a:tc>
                <a:tc>
                  <a:txBody>
                    <a:bodyPr wrap="square"/>
                    <a:lstStyle/>
                    <a:p>
                      <a:r>
                        <a:rPr sz="1162" b="0">
                          <a:solidFill>
                            <a:srgbClr val="4A4741"/>
                          </a:solidFill>
                          <a:latin typeface="Helvetica Neue"/>
                        </a:rPr>
                        <a:t>Why it is hard to copy, report score</a:t>
                      </a:r>
                    </a:p>
                  </a:txBody>
                  <a:tcPr marL="57149" marR="57149" marT="47624" marB="47624" anchor="t">
                    <a:solidFill>
                      <a:srgbClr val="FBF4F2"/>
                    </a:solidFill>
                  </a:tcPr>
                </a:tc>
              </a:tr>
              <a:tr h="380999">
                <a:tc>
                  <a:txBody>
                    <a:bodyPr wrap="square"/>
                    <a:lstStyle/>
                    <a:p>
                      <a:r>
                        <a:rPr sz="1162" b="1">
                          <a:solidFill>
                            <a:srgbClr val="973923"/>
                          </a:solidFill>
                          <a:latin typeface="Helvetica Neue"/>
                        </a:rPr>
                        <a:t>Both · Eyebrow</a:t>
                      </a:r>
                    </a:p>
                  </a:txBody>
                  <a:tcPr marL="57149" marR="57149" marT="47624" marB="47624" anchor="t">
                    <a:noFill/>
                  </a:tcPr>
                </a:tc>
                <a:tc>
                  <a:txBody>
                    <a:bodyPr wrap="square"/>
                    <a:lstStyle/>
                    <a:p>
                      <a:r>
                        <a:rPr sz="1162" b="0">
                          <a:solidFill>
                            <a:srgbClr val="4A4741"/>
                          </a:solidFill>
                          <a:latin typeface="Helvetica Neue"/>
                        </a:rPr>
                        <a:t>Tier and rank out of 91</a:t>
                      </a:r>
                    </a:p>
                  </a:txBody>
                  <a:tcPr marL="57149" marR="57149" marT="47624" marB="47624" anchor="t">
                    <a:noFill/>
                  </a:tcPr>
                </a:tc>
              </a:tr>
            </a:tbl>
          </a:graphicData>
        </a:graphic>
      </p:graphicFrame>
      <p:sp>
        <p:nvSpPr>
          <p:cNvPr id="5" name="TextBox 4"/>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Deck structure</a:t>
            </a:r>
          </a:p>
        </p:txBody>
      </p:sp>
      <p:sp>
        <p:nvSpPr>
          <p:cNvPr id="6" name="TextBox 5"/>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4</a:t>
            </a:r>
          </a:p>
        </p:txBody>
      </p:sp>
      <p:sp>
        <p:nvSpPr>
          <p:cNvPr id="7" name="Rectangle 6"/>
          <p:cNvSpPr/>
          <p:nvPr/>
        </p:nvSpPr>
        <p:spPr>
          <a:xfrm>
            <a:off x="0" y="0"/>
            <a:ext cx="12191969" cy="66674"/>
          </a:xfrm>
          <a:prstGeom prst="rect">
            <a:avLst/>
          </a:prstGeom>
          <a:solidFill>
            <a:srgbClr val="C24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BC7A22"/>
        </a:solidFill>
        <a:effectLst/>
      </p:bgPr>
    </p:bg>
    <p:spTree>
      <p:nvGrpSpPr>
        <p:cNvPr id="1" name=""/>
        <p:cNvGrpSpPr/>
        <p:nvPr/>
      </p:nvGrpSpPr>
      <p:grpSpPr/>
      <p:sp>
        <p:nvSpPr>
          <p:cNvPr id="2" name="TextBox 1"/>
          <p:cNvSpPr txBox="1"/>
          <p:nvPr/>
        </p:nvSpPr>
        <p:spPr>
          <a:xfrm>
            <a:off x="838197" y="3809990"/>
            <a:ext cx="5714985" cy="247649"/>
          </a:xfrm>
          <a:prstGeom prst="rect">
            <a:avLst/>
          </a:prstGeom>
          <a:noFill/>
        </p:spPr>
        <p:txBody>
          <a:bodyPr wrap="square" anchor="t" lIns="0" rIns="0" tIns="0" bIns="0">
            <a:spAutoFit/>
          </a:bodyPr>
          <a:lstStyle/>
          <a:p>
            <a:pPr>
              <a:spcBef>
                <a:spcPts val="0"/>
              </a:spcBef>
              <a:spcAft>
                <a:spcPts val="0"/>
              </a:spcAft>
            </a:pPr>
            <a:r>
              <a:rPr sz="1125" b="1">
                <a:solidFill>
                  <a:srgbClr val="9A9792"/>
                </a:solidFill>
                <a:latin typeface="Helvetica Neue"/>
              </a:rPr>
              <a:t>TIER A · 26 IDEAS</a:t>
            </a:r>
          </a:p>
        </p:txBody>
      </p:sp>
      <p:sp>
        <p:nvSpPr>
          <p:cNvPr id="3" name="TextBox 2"/>
          <p:cNvSpPr txBox="1"/>
          <p:nvPr/>
        </p:nvSpPr>
        <p:spPr>
          <a:xfrm>
            <a:off x="838197" y="4171939"/>
            <a:ext cx="10001224" cy="838197"/>
          </a:xfrm>
          <a:prstGeom prst="rect">
            <a:avLst/>
          </a:prstGeom>
          <a:noFill/>
        </p:spPr>
        <p:txBody>
          <a:bodyPr wrap="square" anchor="t" lIns="0" rIns="0" tIns="0" bIns="0">
            <a:spAutoFit/>
          </a:bodyPr>
          <a:lstStyle/>
          <a:p>
            <a:pPr>
              <a:lnSpc>
                <a:spcPct val="106000"/>
              </a:lnSpc>
              <a:spcBef>
                <a:spcPts val="0"/>
              </a:spcBef>
              <a:spcAft>
                <a:spcPts val="0"/>
              </a:spcAft>
            </a:pPr>
            <a:r>
              <a:rPr sz="4800" b="1">
                <a:solidFill>
                  <a:srgbClr val="FFFFFF"/>
                </a:solidFill>
                <a:latin typeface="Helvetica Neue"/>
              </a:rPr>
              <a:t>Fundable stories</a:t>
            </a:r>
          </a:p>
        </p:txBody>
      </p:sp>
      <p:sp>
        <p:nvSpPr>
          <p:cNvPr id="4" name="TextBox 3"/>
          <p:cNvSpPr txBox="1"/>
          <p:nvPr/>
        </p:nvSpPr>
        <p:spPr>
          <a:xfrm>
            <a:off x="838197" y="4952987"/>
            <a:ext cx="8572478" cy="571498"/>
          </a:xfrm>
          <a:prstGeom prst="rect">
            <a:avLst/>
          </a:prstGeom>
          <a:noFill/>
        </p:spPr>
        <p:txBody>
          <a:bodyPr wrap="square" anchor="t" lIns="0" rIns="0" tIns="0" bIns="0">
            <a:spAutoFit/>
          </a:bodyPr>
          <a:lstStyle/>
          <a:p>
            <a:pPr>
              <a:lnSpc>
                <a:spcPct val="140000"/>
              </a:lnSpc>
              <a:spcBef>
                <a:spcPts val="0"/>
              </a:spcBef>
              <a:spcAft>
                <a:spcPts val="0"/>
              </a:spcAft>
            </a:pPr>
            <a:r>
              <a:rPr sz="1500" b="0">
                <a:solidFill>
                  <a:srgbClr val="C8C5C0"/>
                </a:solidFill>
                <a:latin typeface="Helvetica Neue"/>
              </a:rPr>
              <a:t>Clear payer, repeat revenue, a moat that compounds and a market beyond Uzbekistan. Pitch one of these.</a:t>
            </a:r>
          </a:p>
        </p:txBody>
      </p:sp>
      <p:sp>
        <p:nvSpPr>
          <p:cNvPr id="5" name="TextBox 4"/>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8A8782"/>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01 / 91 · BANKS &amp; LESSORS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PledgePulse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monthly check that a car bought on credit still exists and is in safe hands.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Once a month, the borrower gets a Telegram link and films the car for 30 seconds while following random instructions, like "touch the left mirror" or "show the odometer". The app checks it is the right car, filmed live right now, not an old video or a screen.</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The car is the bank's only safety net, yet nobody looks at it again after the loan is signed. This replaces costly field visits with a 30-second video.</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bank checks thousands of car loans a month without field visits</a:t>
            </a:r>
          </a:p>
          <a:p>
            <a:pPr>
              <a:lnSpc>
                <a:spcPct val="140000"/>
              </a:lnSpc>
              <a:spcBef>
                <a:spcPts val="0"/>
              </a:spcBef>
              <a:spcAft>
                <a:spcPts val="800"/>
              </a:spcAft>
            </a:pPr>
            <a:r>
              <a:rPr sz="1350" b="0">
                <a:solidFill>
                  <a:srgbClr val="4A4741"/>
                </a:solidFill>
                <a:latin typeface="Helvetica Neue"/>
              </a:rPr>
              <a:t>–  A leasing firm spots a car that was secretly sold</a:t>
            </a:r>
          </a:p>
          <a:p>
            <a:pPr>
              <a:lnSpc>
                <a:spcPct val="140000"/>
              </a:lnSpc>
              <a:spcBef>
                <a:spcPts val="0"/>
              </a:spcBef>
              <a:spcAft>
                <a:spcPts val="800"/>
              </a:spcAft>
            </a:pPr>
            <a:r>
              <a:rPr sz="1350" b="0">
                <a:solidFill>
                  <a:srgbClr val="4A4741"/>
                </a:solidFill>
                <a:latin typeface="Helvetica Neue"/>
              </a:rPr>
              <a:t>–  A lender catches someone filming a screen instead of the real car</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Banks, leasing companies and microfinance lenders that give car loans.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[2][18][19][20]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6</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0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02 / 91 · EV DEALERS &amp; LENDERS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Quvvat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the buyer of a used electric car how healthy its battery really is.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buyer takes four photos: the dashboard and the charger screen, before and after a 15-minute charge. From the energy that went in and how much the range moved, Quvvat estimates the battery's real capacity and gives a simple grade with a fair-price hint.</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The battery is the most expensive part of an EV and it wears out. Most used EVs here are Chinese imports that normal diagnostic apps cannot read.</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buyer checks a used BYD before paying</a:t>
            </a:r>
          </a:p>
          <a:p>
            <a:pPr>
              <a:lnSpc>
                <a:spcPct val="140000"/>
              </a:lnSpc>
              <a:spcBef>
                <a:spcPts val="0"/>
              </a:spcBef>
              <a:spcAft>
                <a:spcPts val="800"/>
              </a:spcAft>
            </a:pPr>
            <a:r>
              <a:rPr sz="1350" b="0">
                <a:solidFill>
                  <a:srgbClr val="4A4741"/>
                </a:solidFill>
                <a:latin typeface="Helvetica Neue"/>
              </a:rPr>
              <a:t>–  A bank sets a fair loan amount for a used EV</a:t>
            </a:r>
          </a:p>
          <a:p>
            <a:pPr>
              <a:lnSpc>
                <a:spcPct val="140000"/>
              </a:lnSpc>
              <a:spcBef>
                <a:spcPts val="0"/>
              </a:spcBef>
              <a:spcAft>
                <a:spcPts val="800"/>
              </a:spcAft>
            </a:pPr>
            <a:r>
              <a:rPr sz="1350" b="0">
                <a:solidFill>
                  <a:srgbClr val="4A4741"/>
                </a:solidFill>
                <a:latin typeface="Helvetica Neue"/>
              </a:rPr>
              <a:t>–  A dealer proves its trade-in EVs are healthy</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Used-car dealers, car inspectors and banks that finance electric cars.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[2][13][14][15]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8</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0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03 / 91 · USED-EV DEALERS &amp; BANKS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Yorliq</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Reads the Chinese label on an imported EV and tells you which battery it really has.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Many Chinese EV models are sold with two or three battery sizes that look identical from outside. You photograph the small metal label (nameplate) inside the car; Yorliq reads the Chinese text and tells you the exact version and battery size.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Sellers sometimes advertise the big battery while selling the small one, and a VIN check does not show the battery size. A wrong battery means overpaying by thousands of dollars.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buyer checks that the "big battery" in an ad is real</a:t>
            </a:r>
          </a:p>
          <a:p>
            <a:pPr>
              <a:lnSpc>
                <a:spcPct val="140000"/>
              </a:lnSpc>
              <a:spcBef>
                <a:spcPts val="0"/>
              </a:spcBef>
              <a:spcAft>
                <a:spcPts val="800"/>
              </a:spcAft>
            </a:pPr>
            <a:r>
              <a:rPr sz="1350" b="0">
                <a:solidFill>
                  <a:srgbClr val="4A4741"/>
                </a:solidFill>
                <a:latin typeface="Helvetica Neue"/>
              </a:rPr>
              <a:t>–  A dealer documents grey-import EVs before selling</a:t>
            </a:r>
          </a:p>
          <a:p>
            <a:pPr>
              <a:lnSpc>
                <a:spcPct val="140000"/>
              </a:lnSpc>
              <a:spcBef>
                <a:spcPts val="0"/>
              </a:spcBef>
              <a:spcAft>
                <a:spcPts val="800"/>
              </a:spcAft>
            </a:pPr>
            <a:r>
              <a:rPr sz="1350" b="0">
                <a:solidFill>
                  <a:srgbClr val="4A4741"/>
                </a:solidFill>
                <a:latin typeface="Helvetica Neue"/>
              </a:rPr>
              <a:t>–  Quvvat uses it to know the battery's original size</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Used-EV dealers, importers, car inspectors and banks; it also powers Quvvat.</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[47][48][50]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10</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04 / 91 · CAR MARKETPLACES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FlipperFinder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Exposes dealers who pretend to be private sellers on car marketplaces.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FlipperFinder ignores the car in each listing photo and looks at the background: the same wall, gate or garage. When dozens of "private" ads were all shot in the same yard, it groups them and shows that one dealer is behind them.</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Buyers trust private sellers more and pay accordingly, and marketplaces charge dealers higher fees. Hidden dealers cheat both, and today people spot them only by eye.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marketplace makes hidden dealers pay dealer fees</a:t>
            </a:r>
          </a:p>
          <a:p>
            <a:pPr>
              <a:lnSpc>
                <a:spcPct val="140000"/>
              </a:lnSpc>
              <a:spcBef>
                <a:spcPts val="0"/>
              </a:spcBef>
              <a:spcAft>
                <a:spcPts val="800"/>
              </a:spcAft>
            </a:pPr>
            <a:r>
              <a:rPr sz="1350" b="0">
                <a:solidFill>
                  <a:srgbClr val="4A4741"/>
                </a:solidFill>
                <a:latin typeface="Helvetica Neue"/>
              </a:rPr>
              <a:t>–  A buyer sees that a "private" car comes from a reseller</a:t>
            </a:r>
          </a:p>
          <a:p>
            <a:pPr>
              <a:lnSpc>
                <a:spcPct val="140000"/>
              </a:lnSpc>
              <a:spcBef>
                <a:spcPts val="0"/>
              </a:spcBef>
              <a:spcAft>
                <a:spcPts val="800"/>
              </a:spcAft>
            </a:pPr>
            <a:r>
              <a:rPr sz="1350" b="0">
                <a:solidFill>
                  <a:srgbClr val="4A4741"/>
                </a:solidFill>
                <a:latin typeface="Helvetica Neue"/>
              </a:rPr>
              <a:t>–  Moderators review fake private ads faster</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Car marketplaces such as OLX and Avtoelon.</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[29][30][31]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12</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05 / 91 · BANKS, DEALERS, BUYERS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CarTrail</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car history report built from old and current online listings.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same car is often sold several times, on OLX, Avtoelon and Telegram. CarTrail recognises the car across listings by its dents, rims, stickers and plate pieces, then shows its past prices, mileage and sellers on one timeline.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Uzbekistan has no Carfax-style history service. If the mileage went down between two listings, or the car keeps getting resold, the buyer and the bank should know.</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buyer sees the mileage was lower in last year's ad</a:t>
            </a:r>
          </a:p>
          <a:p>
            <a:pPr>
              <a:lnSpc>
                <a:spcPct val="140000"/>
              </a:lnSpc>
              <a:spcBef>
                <a:spcPts val="0"/>
              </a:spcBef>
              <a:spcAft>
                <a:spcPts val="800"/>
              </a:spcAft>
            </a:pPr>
            <a:r>
              <a:rPr sz="1350" b="0">
                <a:solidFill>
                  <a:srgbClr val="4A4741"/>
                </a:solidFill>
                <a:latin typeface="Helvetica Neue"/>
              </a:rPr>
              <a:t>–  A bank checks a car's history before a loan</a:t>
            </a:r>
          </a:p>
          <a:p>
            <a:pPr>
              <a:lnSpc>
                <a:spcPct val="140000"/>
              </a:lnSpc>
              <a:spcBef>
                <a:spcPts val="0"/>
              </a:spcBef>
              <a:spcAft>
                <a:spcPts val="800"/>
              </a:spcAft>
            </a:pPr>
            <a:r>
              <a:rPr sz="1350" b="0">
                <a:solidFill>
                  <a:srgbClr val="4A4741"/>
                </a:solidFill>
                <a:latin typeface="Helvetica Neue"/>
              </a:rPr>
              <a:t>–  A dealer checks a trade-in's past</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Banks (per check), car buyers and dealers.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[44][45][46]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14</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06 / 91 · MARKETPLACES &amp; BUYERS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TwinCheck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quick photo test that tells a buyer whether a car needs a full inspection.</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Cars are symmetrical, so the left headlamp, mirror and wheel should age like the right ones. TwinCheck compares each pair in the listing photos. If one side looks newer, that part was probably replaced after a crash.</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A full inspection costs around 300,000 UZS, too much to do for every car you look at. This cheap first filter tells you which cars deserve it.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buyer screens ten listings and inspects only two</a:t>
            </a:r>
          </a:p>
          <a:p>
            <a:pPr>
              <a:lnSpc>
                <a:spcPct val="140000"/>
              </a:lnSpc>
              <a:spcBef>
                <a:spcPts val="0"/>
              </a:spcBef>
              <a:spcAft>
                <a:spcPts val="800"/>
              </a:spcAft>
            </a:pPr>
            <a:r>
              <a:rPr sz="1350" b="0">
                <a:solidFill>
                  <a:srgbClr val="4A4741"/>
                </a:solidFill>
                <a:latin typeface="Helvetica Neue"/>
              </a:rPr>
              <a:t>–  A marketplace adds a "check this car" badge</a:t>
            </a:r>
          </a:p>
          <a:p>
            <a:pPr>
              <a:lnSpc>
                <a:spcPct val="140000"/>
              </a:lnSpc>
              <a:spcBef>
                <a:spcPts val="0"/>
              </a:spcBef>
              <a:spcAft>
                <a:spcPts val="800"/>
              </a:spcAft>
            </a:pPr>
            <a:r>
              <a:rPr sz="1350" b="0">
                <a:solidFill>
                  <a:srgbClr val="4A4741"/>
                </a:solidFill>
                <a:latin typeface="Helvetica Neue"/>
              </a:rPr>
              <a:t>–  Inspectors get pre-qualified customers</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Car marketplaces, used-car buyers and inspection firms.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[34][49][192]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16</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07 / 91 · AUTO-LOAN BANKS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WearTruth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Spots a car whose odometer has been rolled back, from photos of its interior.</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steering wheel, pedals and driver's seat wear down with every kilometre. WearTruth photographs them, estimates how far the car has really been driven, and compares that with the odometer. It also spots marks left by old taxi stickers.</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Rolled-back odometers and ex-taxis sold as "family cars" make buyers and banks overpay. Interior wear is hard to fake.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bank checks mileage before approving a car loan</a:t>
            </a:r>
          </a:p>
          <a:p>
            <a:pPr>
              <a:lnSpc>
                <a:spcPct val="140000"/>
              </a:lnSpc>
              <a:spcBef>
                <a:spcPts val="0"/>
              </a:spcBef>
              <a:spcAft>
                <a:spcPts val="800"/>
              </a:spcAft>
            </a:pPr>
            <a:r>
              <a:rPr sz="1350" b="0">
                <a:solidFill>
                  <a:srgbClr val="4A4741"/>
                </a:solidFill>
                <a:latin typeface="Helvetica Neue"/>
              </a:rPr>
              <a:t>–  A trade-in desk avoids overpaying for a worn car</a:t>
            </a:r>
          </a:p>
          <a:p>
            <a:pPr>
              <a:lnSpc>
                <a:spcPct val="140000"/>
              </a:lnSpc>
              <a:spcBef>
                <a:spcPts val="0"/>
              </a:spcBef>
              <a:spcAft>
                <a:spcPts val="800"/>
              </a:spcAft>
            </a:pPr>
            <a:r>
              <a:rPr sz="1350" b="0">
                <a:solidFill>
                  <a:srgbClr val="4A4741"/>
                </a:solidFill>
                <a:latin typeface="Helvetica Neue"/>
              </a:rPr>
              <a:t>–  A buyer finds out a car used to be a taxi</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Auto-loan banks and dealers' trade-in desks.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[26][51]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18</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08 / 91 · MARKETPLACES &amp; BANKS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Trim Truth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that a used-car ad's equipment level matches what the car really has.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same model, like a Cobalt, comes in cheap and expensive versions. Trim Truth looks at photos and checks the visible clues, such as wheels, sunroof, roof rails and rear camera, then marks whether the advertised version matches the car.</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Sellers often claim a higher version to raise the price. Buyers and banks then pay too much for a basic car.</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marketplace shows an "ad matches the car" badge</a:t>
            </a:r>
          </a:p>
          <a:p>
            <a:pPr>
              <a:lnSpc>
                <a:spcPct val="140000"/>
              </a:lnSpc>
              <a:spcBef>
                <a:spcPts val="0"/>
              </a:spcBef>
              <a:spcAft>
                <a:spcPts val="800"/>
              </a:spcAft>
            </a:pPr>
            <a:r>
              <a:rPr sz="1350" b="0">
                <a:solidFill>
                  <a:srgbClr val="4A4741"/>
                </a:solidFill>
                <a:latin typeface="Helvetica Neue"/>
              </a:rPr>
              <a:t>–  A buyer checks a "top version" claim from photos</a:t>
            </a:r>
          </a:p>
          <a:p>
            <a:pPr>
              <a:lnSpc>
                <a:spcPct val="140000"/>
              </a:lnSpc>
              <a:spcBef>
                <a:spcPts val="0"/>
              </a:spcBef>
              <a:spcAft>
                <a:spcPts val="800"/>
              </a:spcAft>
            </a:pPr>
            <a:r>
              <a:rPr sz="1350" b="0">
                <a:solidFill>
                  <a:srgbClr val="4A4741"/>
                </a:solidFill>
                <a:latin typeface="Helvetica Neue"/>
              </a:rPr>
              <a:t>–  A bank avoids lending on an inflated price</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Car marketplaces, and banks once a loan officer confirms the problem.</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[49][50]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20</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09 / 91 · FREIGHT FORWARDERS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TruckProof</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a truck and driver are real before they get a cargo load.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Before booking a load, the freight forwarder sends the driver a link. The driver films the truck, its plate, the documents and a fresh random code. TruckProof checks that the plate, the papers, the truck type and the driver's face all match.</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Many loads in Central Asia are booked through Telegram groups where anyone can claim to be a carrier. A fake carrier can disappear with the cargo.</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forwarder verifies a new carrier in two minutes</a:t>
            </a:r>
          </a:p>
          <a:p>
            <a:pPr>
              <a:lnSpc>
                <a:spcPct val="140000"/>
              </a:lnSpc>
              <a:spcBef>
                <a:spcPts val="0"/>
              </a:spcBef>
              <a:spcAft>
                <a:spcPts val="800"/>
              </a:spcAft>
            </a:pPr>
            <a:r>
              <a:rPr sz="1350" b="0">
                <a:solidFill>
                  <a:srgbClr val="4A4741"/>
                </a:solidFill>
                <a:latin typeface="Helvetica Neue"/>
              </a:rPr>
              <a:t>–  A Telegram freight group shows a "verified" badge</a:t>
            </a:r>
          </a:p>
          <a:p>
            <a:pPr>
              <a:lnSpc>
                <a:spcPct val="140000"/>
              </a:lnSpc>
              <a:spcBef>
                <a:spcPts val="0"/>
              </a:spcBef>
              <a:spcAft>
                <a:spcPts val="800"/>
              </a:spcAft>
            </a:pPr>
            <a:r>
              <a:rPr sz="1350" b="0">
                <a:solidFill>
                  <a:srgbClr val="4A4741"/>
                </a:solidFill>
                <a:latin typeface="Helvetica Neue"/>
              </a:rPr>
              <a:t>–  A cargo insurer requires a check before trips</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Freight forwarders, logistics marketplaces and cargo insurers.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[27][28]</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22</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10 / 91 · MOTOR INSURERS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Alibi</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an insurance claim photo was really taken at the scene, today.</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a driver sends damage photos to an insurer's Telegram bot, Alibi checks the physics. Do the shadows match the sun's position at that place and time? Does the weather match? Was the photo taken of a real car, not a screen?</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Fraudsters reuse old photos or edit damage in. Even trained staff miss half of edited damage photos.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An insurer fast-tracks honest claims and holds suspicious ones</a:t>
            </a:r>
          </a:p>
          <a:p>
            <a:pPr>
              <a:lnSpc>
                <a:spcPct val="140000"/>
              </a:lnSpc>
              <a:spcBef>
                <a:spcPts val="0"/>
              </a:spcBef>
              <a:spcAft>
                <a:spcPts val="800"/>
              </a:spcAft>
            </a:pPr>
            <a:r>
              <a:rPr sz="1350" b="0">
                <a:solidFill>
                  <a:srgbClr val="4A4741"/>
                </a:solidFill>
                <a:latin typeface="Helvetica Neue"/>
              </a:rPr>
              <a:t>–  A claims team catches an old photo sent as new</a:t>
            </a:r>
          </a:p>
          <a:p>
            <a:pPr>
              <a:lnSpc>
                <a:spcPct val="140000"/>
              </a:lnSpc>
              <a:spcBef>
                <a:spcPts val="0"/>
              </a:spcBef>
              <a:spcAft>
                <a:spcPts val="800"/>
              </a:spcAft>
            </a:pPr>
            <a:r>
              <a:rPr sz="1350" b="0">
                <a:solidFill>
                  <a:srgbClr val="4A4741"/>
                </a:solidFill>
                <a:latin typeface="Helvetica Neue"/>
              </a:rPr>
              <a:t>–  Remote claims become safe without an inspector visit</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Car insurers (OSAGO and KASKO claims departments).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[61][62]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24</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11 / 91 · INSURERS &amp;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ScratchPrint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whether a scratch is new or was already there before.</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Every scratch and dent has a unique shape, like a fingerprint. ScratchPrint compares new photos with earlier ones and says whether a damage mark is the same old one or a new one.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People claim old damage as new, or the same damage twice. Rental and taxi companies argue with drivers about who caused which scratch.</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taxi fleet settles "who scratched it" at shift change</a:t>
            </a:r>
          </a:p>
          <a:p>
            <a:pPr>
              <a:lnSpc>
                <a:spcPct val="140000"/>
              </a:lnSpc>
              <a:spcBef>
                <a:spcPts val="0"/>
              </a:spcBef>
              <a:spcAft>
                <a:spcPts val="800"/>
              </a:spcAft>
            </a:pPr>
            <a:r>
              <a:rPr sz="1350" b="0">
                <a:solidFill>
                  <a:srgbClr val="4A4741"/>
                </a:solidFill>
                <a:latin typeface="Helvetica Neue"/>
              </a:rPr>
              <a:t>–  An insurer spots damage that existed before the policy</a:t>
            </a:r>
          </a:p>
          <a:p>
            <a:pPr>
              <a:lnSpc>
                <a:spcPct val="140000"/>
              </a:lnSpc>
              <a:spcBef>
                <a:spcPts val="0"/>
              </a:spcBef>
              <a:spcAft>
                <a:spcPts val="800"/>
              </a:spcAft>
            </a:pPr>
            <a:r>
              <a:rPr sz="1350" b="0">
                <a:solidFill>
                  <a:srgbClr val="4A4741"/>
                </a:solidFill>
                <a:latin typeface="Helvetica Neue"/>
              </a:rPr>
              <a:t>–  A rental company checks returns fairly</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Insurers, taxi fleets, rental and car-sharing companies.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[63][64]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26</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12 / 91 · OSAGO CLAIMS TEAMS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BumperMatch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whether the damage on two cars could really come from the same crash.</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Using the licence plate as a ruler, BumperMatch measures how high the damage sits on each car. A dent at knee height cannot come from a bumper that sits much higher, so impossible combinations are flagged.</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Some accidents are staged or described falsely to get insurance money. A simple height check catches many of them.</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An insurer flags a claim where the dents don't line up</a:t>
            </a:r>
          </a:p>
          <a:p>
            <a:pPr>
              <a:lnSpc>
                <a:spcPct val="140000"/>
              </a:lnSpc>
              <a:spcBef>
                <a:spcPts val="0"/>
              </a:spcBef>
              <a:spcAft>
                <a:spcPts val="800"/>
              </a:spcAft>
            </a:pPr>
            <a:r>
              <a:rPr sz="1350" b="0">
                <a:solidFill>
                  <a:srgbClr val="4A4741"/>
                </a:solidFill>
                <a:latin typeface="Helvetica Neue"/>
              </a:rPr>
              <a:t>–  An independent expert gets measurements for a report</a:t>
            </a:r>
          </a:p>
          <a:p>
            <a:pPr>
              <a:lnSpc>
                <a:spcPct val="140000"/>
              </a:lnSpc>
              <a:spcBef>
                <a:spcPts val="0"/>
              </a:spcBef>
              <a:spcAft>
                <a:spcPts val="800"/>
              </a:spcAft>
            </a:pPr>
            <a:r>
              <a:rPr sz="1350" b="0">
                <a:solidFill>
                  <a:srgbClr val="4A4741"/>
                </a:solidFill>
                <a:latin typeface="Helvetica Neue"/>
              </a:rPr>
              <a:t>–  A hit-and-run victim learns what kind of car hit them</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Car insurers' claims and fraud teams, and independent damage experts.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[58][59][60]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28</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13 / 91 · INSURERS &amp;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WitnessHunt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dashcam video of an accident from other vehicles that were nearby.</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Taxi and delivery fleets record dashcam video all day. When an insurer needs evidence for a crash, WitnessHunt searches the fleets' footage for that place and time, finds the clip, and blurs faces and plates before sharing it.</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Many accident disputes come down to one driver's word against the other's. Video settles them fast, and insurers must decide within 15 days.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An insurer gets video of a disputed crash</a:t>
            </a:r>
          </a:p>
          <a:p>
            <a:pPr>
              <a:lnSpc>
                <a:spcPct val="140000"/>
              </a:lnSpc>
              <a:spcBef>
                <a:spcPts val="0"/>
              </a:spcBef>
              <a:spcAft>
                <a:spcPts val="800"/>
              </a:spcAft>
            </a:pPr>
            <a:r>
              <a:rPr sz="1350" b="0">
                <a:solidFill>
                  <a:srgbClr val="4A4741"/>
                </a:solidFill>
                <a:latin typeface="Helvetica Neue"/>
              </a:rPr>
              <a:t>–  A fleet earns money from footage it already has</a:t>
            </a:r>
          </a:p>
          <a:p>
            <a:pPr>
              <a:lnSpc>
                <a:spcPct val="140000"/>
              </a:lnSpc>
              <a:spcBef>
                <a:spcPts val="0"/>
              </a:spcBef>
              <a:spcAft>
                <a:spcPts val="800"/>
              </a:spcAft>
            </a:pPr>
            <a:r>
              <a:rPr sz="1350" b="0">
                <a:solidFill>
                  <a:srgbClr val="4A4741"/>
                </a:solidFill>
                <a:latin typeface="Helvetica Neue"/>
              </a:rPr>
              <a:t>–  A driver proves the other car ran the red light</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Insurers pay per clip; fleets join as video suppliers.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[181][182]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30</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14 / 91 · INSURERS &amp;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EuroScene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Lets two drivers report a small accident with their phones, without police.</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After a minor crash, both drivers film a short walk-around of the scene. EuroScene reads both plates, marks the damage on each car, fills in the accident notice form, and both drivers sign it with a QR handshake.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Waiting for police after a fender-bender wastes hours and blocks traffic. A recorded, signed notice is also better evidence for insurers. It does not decide who is at fault.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Two drivers file a notice in five minutes</a:t>
            </a:r>
          </a:p>
          <a:p>
            <a:pPr>
              <a:lnSpc>
                <a:spcPct val="140000"/>
              </a:lnSpc>
              <a:spcBef>
                <a:spcPts val="0"/>
              </a:spcBef>
              <a:spcAft>
                <a:spcPts val="800"/>
              </a:spcAft>
            </a:pPr>
            <a:r>
              <a:rPr sz="1350" b="0">
                <a:solidFill>
                  <a:srgbClr val="4A4741"/>
                </a:solidFill>
                <a:latin typeface="Helvetica Neue"/>
              </a:rPr>
              <a:t>–  A taxi company handles its drivers' small accidents</a:t>
            </a:r>
          </a:p>
          <a:p>
            <a:pPr>
              <a:lnSpc>
                <a:spcPct val="140000"/>
              </a:lnSpc>
              <a:spcBef>
                <a:spcPts val="0"/>
              </a:spcBef>
              <a:spcAft>
                <a:spcPts val="800"/>
              </a:spcAft>
            </a:pPr>
            <a:r>
              <a:rPr sz="1350" b="0">
                <a:solidFill>
                  <a:srgbClr val="4A4741"/>
                </a:solidFill>
                <a:latin typeface="Helvetica Neue"/>
              </a:rPr>
              <a:t>–  An insurer receives clean, filmed evidence</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Insurers, the Insurance Guarantee Fund and ride-hailing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[68][69]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32</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15 / 91 · CAR WASHES → INSURERS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WashScan</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Turns car washes into places where a car's condition gets photographed and recorded.</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a car arrives at a wash, the attendant walks around it with a phone. The app makes sure every panel is filmed clearly and saves a dated record of the car's condition, linked to its plate.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Car washes are often blamed for scratches that were already there; the record protects them. Insurers also want up-to-date condition photos and can buy these records.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car wash proves a scratch was there before washing</a:t>
            </a:r>
          </a:p>
          <a:p>
            <a:pPr>
              <a:lnSpc>
                <a:spcPct val="140000"/>
              </a:lnSpc>
              <a:spcBef>
                <a:spcPts val="0"/>
              </a:spcBef>
              <a:spcAft>
                <a:spcPts val="800"/>
              </a:spcAft>
            </a:pPr>
            <a:r>
              <a:rPr sz="1350" b="0">
                <a:solidFill>
                  <a:srgbClr val="4A4741"/>
                </a:solidFill>
                <a:latin typeface="Helvetica Neue"/>
              </a:rPr>
              <a:t>–  An insurer gets fresh condition photos without an inspector</a:t>
            </a:r>
          </a:p>
          <a:p>
            <a:pPr>
              <a:lnSpc>
                <a:spcPct val="140000"/>
              </a:lnSpc>
              <a:spcBef>
                <a:spcPts val="0"/>
              </a:spcBef>
              <a:spcAft>
                <a:spcPts val="800"/>
              </a:spcAft>
            </a:pPr>
            <a:r>
              <a:rPr sz="1350" b="0">
                <a:solidFill>
                  <a:srgbClr val="4A4741"/>
                </a:solidFill>
                <a:latin typeface="Helvetica Neue"/>
              </a:rPr>
              <a:t>–  A lender sees a car's recent state</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Car washes first, then insurers who buy the condition records.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[32][33]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34</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16 / 91 · BUYERS &amp; DEALERS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Columbo</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chat assistant that inspects a used car remotely by asking for the right photos.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buyer in another city sends Columbo a listing. Columbo asks the seller for one photo at a time, always the one that tells it the most, and runs checks for repairs and repaint. It ends with: buy, walk away, or inspect in person.</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A professional inspection costs 300,000 UZS plus travel. Most bad cars can be ruled out remotely before anyone travels.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buyer in Samarkand checks a car listed in Tashkent</a:t>
            </a:r>
          </a:p>
          <a:p>
            <a:pPr>
              <a:lnSpc>
                <a:spcPct val="140000"/>
              </a:lnSpc>
              <a:spcBef>
                <a:spcPts val="0"/>
              </a:spcBef>
              <a:spcAft>
                <a:spcPts val="800"/>
              </a:spcAft>
            </a:pPr>
            <a:r>
              <a:rPr sz="1350" b="0">
                <a:solidFill>
                  <a:srgbClr val="4A4741"/>
                </a:solidFill>
                <a:latin typeface="Helvetica Neue"/>
              </a:rPr>
              <a:t>–  A dealer screens many cars without visiting them</a:t>
            </a:r>
          </a:p>
          <a:p>
            <a:pPr>
              <a:lnSpc>
                <a:spcPct val="140000"/>
              </a:lnSpc>
              <a:spcBef>
                <a:spcPts val="0"/>
              </a:spcBef>
              <a:spcAft>
                <a:spcPts val="800"/>
              </a:spcAft>
            </a:pPr>
            <a:r>
              <a:rPr sz="1350" b="0">
                <a:solidFill>
                  <a:srgbClr val="4A4741"/>
                </a:solidFill>
                <a:latin typeface="Helvetica Neue"/>
              </a:rPr>
              <a:t>–  Inspectors get only the cars worth a trip</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Used-car buyers in the regions and dealers buying cars from afar.</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[34][41]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36</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17 / 91 · BANKS &amp; INSURERS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BozorLens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fair-price guide for used cars, built from the prices at car markets.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At car markets, sellers put price sheets behind the windshield. Walking with a phone, BozorLens reads each sheet, identifies the car, and compares the price with online ads, building a fair-price index over time.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Uzbekistan has no trusted price guide, so banks and insurers value cars blind. First check the price sheets really exist at the market.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bank values a car before a loan</a:t>
            </a:r>
          </a:p>
          <a:p>
            <a:pPr>
              <a:lnSpc>
                <a:spcPct val="140000"/>
              </a:lnSpc>
              <a:spcBef>
                <a:spcPts val="0"/>
              </a:spcBef>
              <a:spcAft>
                <a:spcPts val="800"/>
              </a:spcAft>
            </a:pPr>
            <a:r>
              <a:rPr sz="1350" b="0">
                <a:solidFill>
                  <a:srgbClr val="4A4741"/>
                </a:solidFill>
                <a:latin typeface="Helvetica Neue"/>
              </a:rPr>
              <a:t>–  An insurer sets the insured value</a:t>
            </a:r>
          </a:p>
          <a:p>
            <a:pPr>
              <a:lnSpc>
                <a:spcPct val="140000"/>
              </a:lnSpc>
              <a:spcBef>
                <a:spcPts val="0"/>
              </a:spcBef>
              <a:spcAft>
                <a:spcPts val="800"/>
              </a:spcAft>
            </a:pPr>
            <a:r>
              <a:rPr sz="1350" b="0">
                <a:solidFill>
                  <a:srgbClr val="4A4741"/>
                </a:solidFill>
                <a:latin typeface="Helvetica Neue"/>
              </a:rPr>
              <a:t>–  A buyer sees if an asking price is fair</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Banks and insurers via subscription; buyers use it for free.</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[180]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38</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18 / 91 · FLEETS OF 50–500 CARS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Shtraf Shield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Handles traffic-camera fines for company cars: check, pay early or pass on.</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Fleets with many cars receive many camera fines. Shtraf Shield reads each fine's photo, checks the plate, make and colour match the fleet's car, flags mistakes and cloned plates, then pays early at the discount or transfers the fine to the driver.</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Paying within 15 days halves the fine, and since April 2026 fines can go to the actual driver. Fleets lose money missing deadlines or paying for wrong fines.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car-rental firm transfers fines to customers automatically</a:t>
            </a:r>
          </a:p>
          <a:p>
            <a:pPr>
              <a:lnSpc>
                <a:spcPct val="140000"/>
              </a:lnSpc>
              <a:spcBef>
                <a:spcPts val="0"/>
              </a:spcBef>
              <a:spcAft>
                <a:spcPts val="800"/>
              </a:spcAft>
            </a:pPr>
            <a:r>
              <a:rPr sz="1350" b="0">
                <a:solidFill>
                  <a:srgbClr val="4A4741"/>
                </a:solidFill>
                <a:latin typeface="Helvetica Neue"/>
              </a:rPr>
              <a:t>–  A delivery fleet stops paying for misread plates</a:t>
            </a:r>
          </a:p>
          <a:p>
            <a:pPr>
              <a:lnSpc>
                <a:spcPct val="140000"/>
              </a:lnSpc>
              <a:spcBef>
                <a:spcPts val="0"/>
              </a:spcBef>
              <a:spcAft>
                <a:spcPts val="800"/>
              </a:spcAft>
            </a:pPr>
            <a:r>
              <a:rPr sz="1350" b="0">
                <a:solidFill>
                  <a:srgbClr val="4A4741"/>
                </a:solidFill>
                <a:latin typeface="Helvetica Neue"/>
              </a:rPr>
              <a:t>–  A fleet never misses the 50% discount</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Rental, car-sharing, taxi and delivery fleets with 50 to 500 cars.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[98][99][100][101]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40</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19 / 91 · CORPORATE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FuelTruth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Catches fuel theft in company vehicles with one short video at the pump.</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At each refuel, the driver films the pump display, the plate and the odometer in one 10-second clip. FuelTruth reads the numbers, checks them against the receipt and the trip, and flags fills that don't add up.</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Drivers can inflate receipts or fill other cars on the company's money. Fuel sensors cost money and need installing; a phone video does not.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fleet manager sees which fills look suspicious</a:t>
            </a:r>
          </a:p>
          <a:p>
            <a:pPr>
              <a:lnSpc>
                <a:spcPct val="140000"/>
              </a:lnSpc>
              <a:spcBef>
                <a:spcPts val="0"/>
              </a:spcBef>
              <a:spcAft>
                <a:spcPts val="800"/>
              </a:spcAft>
            </a:pPr>
            <a:r>
              <a:rPr sz="1350" b="0">
                <a:solidFill>
                  <a:srgbClr val="4A4741"/>
                </a:solidFill>
                <a:latin typeface="Helvetica Neue"/>
              </a:rPr>
              <a:t>–  A company fills in fuel data for its digital waybill</a:t>
            </a:r>
          </a:p>
          <a:p>
            <a:pPr>
              <a:lnSpc>
                <a:spcPct val="140000"/>
              </a:lnSpc>
              <a:spcBef>
                <a:spcPts val="0"/>
              </a:spcBef>
              <a:spcAft>
                <a:spcPts val="800"/>
              </a:spcAft>
            </a:pPr>
            <a:r>
              <a:rPr sz="1350" b="0">
                <a:solidFill>
                  <a:srgbClr val="4A4741"/>
                </a:solidFill>
                <a:latin typeface="Helvetica Neue"/>
              </a:rPr>
              <a:t>–  A municipal fleet audits fuel spending</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Corporate, municipal and logistics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[108][109][110]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42</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20 / 91 · TAXI &amp; DELIVERY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Wrench-Proof</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a repair on a company car was really done.</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mechanic records one continuous 20-second video: the plate, the odometer, the new part's box and the old part removed. Wrench-Proof checks everything is in one take and that the box matches the part, then issues a sealed receipt.</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Fleet owners pay for oil changes, brake pads and batteries they never see. Today they simply have to trust the mechanic.</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taxi company checks a garage's invoice</a:t>
            </a:r>
          </a:p>
          <a:p>
            <a:pPr>
              <a:lnSpc>
                <a:spcPct val="140000"/>
              </a:lnSpc>
              <a:spcBef>
                <a:spcPts val="0"/>
              </a:spcBef>
              <a:spcAft>
                <a:spcPts val="800"/>
              </a:spcAft>
            </a:pPr>
            <a:r>
              <a:rPr sz="1350" b="0">
                <a:solidFill>
                  <a:srgbClr val="4A4741"/>
                </a:solidFill>
                <a:latin typeface="Helvetica Neue"/>
              </a:rPr>
              <a:t>–  A delivery fleet keeps a verified service history per car</a:t>
            </a:r>
          </a:p>
          <a:p>
            <a:pPr>
              <a:lnSpc>
                <a:spcPct val="140000"/>
              </a:lnSpc>
              <a:spcBef>
                <a:spcPts val="0"/>
              </a:spcBef>
              <a:spcAft>
                <a:spcPts val="800"/>
              </a:spcAft>
            </a:pPr>
            <a:r>
              <a:rPr sz="1350" b="0">
                <a:solidFill>
                  <a:srgbClr val="4A4741"/>
                </a:solidFill>
                <a:latin typeface="Helvetica Neue"/>
              </a:rPr>
              <a:t>–  A buyer sees proven maintenance on a used fleet car</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Taxi parks and delivery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[78][79]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44</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21 / 91 · DELIVERY PLATFORMS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ShiftGate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15-second safety check couriers pass before their shift starts.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Before taking orders, the courier films their scooter or bike for 15 seconds. ShiftGate checks the reflectors, lights, number plate and documents. If something is missing, the shift stays locked and the courier gets a fix list.</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Couriers' fines in 2026 add up to about 4.7 billion UZS, mostly for missing lights and reflectors. Unsafe bikes are also hard to see at night.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delivery app unlocks shifts only for safe bikes</a:t>
            </a:r>
          </a:p>
          <a:p>
            <a:pPr>
              <a:lnSpc>
                <a:spcPct val="140000"/>
              </a:lnSpc>
              <a:spcBef>
                <a:spcPts val="0"/>
              </a:spcBef>
              <a:spcAft>
                <a:spcPts val="800"/>
              </a:spcAft>
            </a:pPr>
            <a:r>
              <a:rPr sz="1350" b="0">
                <a:solidFill>
                  <a:srgbClr val="4A4741"/>
                </a:solidFill>
                <a:latin typeface="Helvetica Neue"/>
              </a:rPr>
              <a:t>–  A courier company cuts its fines</a:t>
            </a:r>
          </a:p>
          <a:p>
            <a:pPr>
              <a:lnSpc>
                <a:spcPct val="140000"/>
              </a:lnSpc>
              <a:spcBef>
                <a:spcPts val="0"/>
              </a:spcBef>
              <a:spcAft>
                <a:spcPts val="800"/>
              </a:spcAft>
            </a:pPr>
            <a:r>
              <a:rPr sz="1350" b="0">
                <a:solidFill>
                  <a:srgbClr val="4A4741"/>
                </a:solidFill>
                <a:latin typeface="Helvetica Neue"/>
              </a:rPr>
              <a:t>–  A platform shows regulators its safety record</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Delivery platforms and courier companies.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[16][122]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46</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22 / 91 · DELIVERY PLATFORMS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Be-Seen</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Tests whether a moped's reflectors really shine, using two phone photos.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courier takes one photo with flash and one without. Be-Seen compares them: good reflective tape shines brightly under flash, while worn or fake tape does not. It grades each reflector and lists what to replace.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Most two-wheeler violations in 2026 were about reflectors and lights. A rider who cannot be seen at night can be hit.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depot checks all mopeds before night shifts</a:t>
            </a:r>
          </a:p>
          <a:p>
            <a:pPr>
              <a:lnSpc>
                <a:spcPct val="140000"/>
              </a:lnSpc>
              <a:spcBef>
                <a:spcPts val="0"/>
              </a:spcBef>
              <a:spcAft>
                <a:spcPts val="800"/>
              </a:spcAft>
            </a:pPr>
            <a:r>
              <a:rPr sz="1350" b="0">
                <a:solidFill>
                  <a:srgbClr val="4A4741"/>
                </a:solidFill>
                <a:latin typeface="Helvetica Neue"/>
              </a:rPr>
              <a:t>–  A courier checks their own vest and bike</a:t>
            </a:r>
          </a:p>
          <a:p>
            <a:pPr>
              <a:lnSpc>
                <a:spcPct val="140000"/>
              </a:lnSpc>
              <a:spcBef>
                <a:spcPts val="0"/>
              </a:spcBef>
              <a:spcAft>
                <a:spcPts val="800"/>
              </a:spcAft>
            </a:pPr>
            <a:r>
              <a:rPr sz="1350" b="0">
                <a:solidFill>
                  <a:srgbClr val="4A4741"/>
                </a:solidFill>
                <a:latin typeface="Helvetica Neue"/>
              </a:rPr>
              <a:t>–  A fleet proves its bikes meet the rules</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Delivery platforms and fleets with mopeds and bikes.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[16][17]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48</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23 / 91 · CAMERA INTEGRATORS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CamAudit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Tests whether a traffic camera's AI still reads plates at night, in rain and in dust.</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Companies that install road cameras give CamAudit their footage. It creates realistic night, rain, dust and dirty-plate versions of the clips, runs the company's AI on them and reports where it fails, against the government's rules.</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Under Resolution 148, cameras must read at least 95% of plates day and night or be switched off. Vendors claim 97-99%, but nobody checks independently.</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camera vendor tests itself before the official trial</a:t>
            </a:r>
          </a:p>
          <a:p>
            <a:pPr>
              <a:lnSpc>
                <a:spcPct val="140000"/>
              </a:lnSpc>
              <a:spcBef>
                <a:spcPts val="0"/>
              </a:spcBef>
              <a:spcAft>
                <a:spcPts val="800"/>
              </a:spcAft>
            </a:pPr>
            <a:r>
              <a:rPr sz="1350" b="0">
                <a:solidFill>
                  <a:srgbClr val="4A4741"/>
                </a:solidFill>
                <a:latin typeface="Helvetica Neue"/>
              </a:rPr>
              <a:t>–  A city checks a vendor's claims before paying</a:t>
            </a:r>
          </a:p>
          <a:p>
            <a:pPr>
              <a:lnSpc>
                <a:spcPct val="140000"/>
              </a:lnSpc>
              <a:spcBef>
                <a:spcPts val="0"/>
              </a:spcBef>
              <a:spcAft>
                <a:spcPts val="800"/>
              </a:spcAft>
            </a:pPr>
            <a:r>
              <a:rPr sz="1350" b="0">
                <a:solidFill>
                  <a:srgbClr val="4A4741"/>
                </a:solidFill>
                <a:latin typeface="Helvetica Neue"/>
              </a:rPr>
              <a:t>–  An integrator finds weak cameras before they fail</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Companies that install traffic cameras, and later city traffic centres.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[8][9]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50</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24 / 91 · TAXI &amp; COURIER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Navbat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live map of methane (CNG) stations: which are open and how long the queue is.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Drivers share short videos of station queues. Navbat counts the cars, estimates the waiting time and whether the station is open, and tells taxi drivers where to fill up now.</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In winter many CNG stations close or have long queues: on 25 Dec 2025, only 11 of 33 stations for Tashkent public transport were open. Every hour in a queue is lost income for a taxi driver.</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taxi driver goes to the station with the shortest wait</a:t>
            </a:r>
          </a:p>
          <a:p>
            <a:pPr>
              <a:lnSpc>
                <a:spcPct val="140000"/>
              </a:lnSpc>
              <a:spcBef>
                <a:spcPts val="0"/>
              </a:spcBef>
              <a:spcAft>
                <a:spcPts val="800"/>
              </a:spcAft>
            </a:pPr>
            <a:r>
              <a:rPr sz="1350" b="0">
                <a:solidFill>
                  <a:srgbClr val="4A4741"/>
                </a:solidFill>
                <a:latin typeface="Helvetica Neue"/>
              </a:rPr>
              <a:t>–  A fleet plans refuelling for 100 cars</a:t>
            </a:r>
          </a:p>
          <a:p>
            <a:pPr>
              <a:lnSpc>
                <a:spcPct val="140000"/>
              </a:lnSpc>
              <a:spcBef>
                <a:spcPts val="0"/>
              </a:spcBef>
              <a:spcAft>
                <a:spcPts val="800"/>
              </a:spcAft>
            </a:pPr>
            <a:r>
              <a:rPr sz="1350" b="0">
                <a:solidFill>
                  <a:srgbClr val="4A4741"/>
                </a:solidFill>
                <a:latin typeface="Helvetica Neue"/>
              </a:rPr>
              <a:t>–  Station owners see their busy hours</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Taxi and courier fleets; drivers use it.</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[24][25][26]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52</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25 / 91 · DRIVING SCHOOLS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AutodromRef</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phone camera that scores driving-school students like the real exam.</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One phone mounted above the school's practice yard watches the car. AutodromRef tracks the car, the cones and the lines and scores each exercise, such as hill start, parking and the box, the way the exam sensors do. It saves replay clips.</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The driving exam is scored by sensors and a retake costs 1.2M UZS. Schools are rated on how their students pass, but have no cheap way to practise the exact scoring.</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 student sees exactly where they lost points</a:t>
            </a:r>
          </a:p>
          <a:p>
            <a:pPr>
              <a:lnSpc>
                <a:spcPct val="140000"/>
              </a:lnSpc>
              <a:spcBef>
                <a:spcPts val="0"/>
              </a:spcBef>
              <a:spcAft>
                <a:spcPts val="800"/>
              </a:spcAft>
            </a:pPr>
            <a:r>
              <a:rPr sz="1350" b="0">
                <a:solidFill>
                  <a:srgbClr val="4A4741"/>
                </a:solidFill>
                <a:latin typeface="Helvetica Neue"/>
              </a:rPr>
              <a:t>–  A school runs mock exams without an examiner</a:t>
            </a:r>
          </a:p>
          <a:p>
            <a:pPr>
              <a:lnSpc>
                <a:spcPct val="140000"/>
              </a:lnSpc>
              <a:spcBef>
                <a:spcPts val="0"/>
              </a:spcBef>
              <a:spcAft>
                <a:spcPts val="800"/>
              </a:spcAft>
            </a:pPr>
            <a:r>
              <a:rPr sz="1350" b="0">
                <a:solidFill>
                  <a:srgbClr val="4A4741"/>
                </a:solidFill>
                <a:latin typeface="Helvetica Neue"/>
              </a:rPr>
              <a:t>–  Instructors show replays to explain mistakes</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Driving schools.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[4][5][6][7]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54</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A · 26 / 91 · DRIVING SCHOOLS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MirrorMark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whether a learner driver looks in the mirrors before turning.</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935F1B"/>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phone in the car watches the learner's head during a lesson. When the car turns or changes lanes, MirrorMark checks whether the learner looked in the mirror and over the shoulder, and gives feedback after the drive.</a:t>
            </a:r>
          </a:p>
          <a:p>
            <a:pPr>
              <a:spcBef>
                <a:spcPts val="1800"/>
              </a:spcBef>
              <a:spcAft>
                <a:spcPts val="800"/>
              </a:spcAft>
            </a:pPr>
            <a:r>
              <a:rPr sz="1050" b="1">
                <a:solidFill>
                  <a:srgbClr val="935F1B"/>
                </a:solidFill>
                <a:latin typeface="Helvetica Neue"/>
              </a:rPr>
              <a:t>WHY IT MATTERS</a:t>
            </a:r>
          </a:p>
          <a:p>
            <a:pPr>
              <a:lnSpc>
                <a:spcPct val="145000"/>
              </a:lnSpc>
              <a:spcBef>
                <a:spcPts val="0"/>
              </a:spcBef>
              <a:spcAft>
                <a:spcPts val="0"/>
              </a:spcAft>
            </a:pPr>
            <a:r>
              <a:rPr sz="1575" b="0">
                <a:solidFill>
                  <a:srgbClr val="1A1917"/>
                </a:solidFill>
                <a:latin typeface="Helvetica Neue"/>
              </a:rPr>
              <a:t>Missing mirror checks is a classic exam fail and a cause of crashes. Instructors cannot watch the road and the student's eyes at the same time.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935F1B"/>
                </a:solidFill>
                <a:latin typeface="Helvetica Neue"/>
              </a:rPr>
              <a:t>USE CASES</a:t>
            </a:r>
          </a:p>
          <a:p>
            <a:pPr>
              <a:lnSpc>
                <a:spcPct val="140000"/>
              </a:lnSpc>
              <a:spcBef>
                <a:spcPts val="0"/>
              </a:spcBef>
              <a:spcAft>
                <a:spcPts val="800"/>
              </a:spcAft>
            </a:pPr>
            <a:r>
              <a:rPr sz="1350" b="0">
                <a:solidFill>
                  <a:srgbClr val="4A4741"/>
                </a:solidFill>
                <a:latin typeface="Helvetica Neue"/>
              </a:rPr>
              <a:t>–  An instructor gets a report of missed checks after each lesson</a:t>
            </a:r>
          </a:p>
          <a:p>
            <a:pPr>
              <a:lnSpc>
                <a:spcPct val="140000"/>
              </a:lnSpc>
              <a:spcBef>
                <a:spcPts val="0"/>
              </a:spcBef>
              <a:spcAft>
                <a:spcPts val="800"/>
              </a:spcAft>
            </a:pPr>
            <a:r>
              <a:rPr sz="1350" b="0">
                <a:solidFill>
                  <a:srgbClr val="4A4741"/>
                </a:solidFill>
                <a:latin typeface="Helvetica Neue"/>
              </a:rPr>
              <a:t>–  A student practises with feedback</a:t>
            </a:r>
          </a:p>
          <a:p>
            <a:pPr>
              <a:lnSpc>
                <a:spcPct val="140000"/>
              </a:lnSpc>
              <a:spcBef>
                <a:spcPts val="0"/>
              </a:spcBef>
              <a:spcAft>
                <a:spcPts val="800"/>
              </a:spcAft>
            </a:pPr>
            <a:r>
              <a:rPr sz="1350" b="0">
                <a:solidFill>
                  <a:srgbClr val="4A4741"/>
                </a:solidFill>
                <a:latin typeface="Helvetica Neue"/>
              </a:rPr>
              <a:t>–  A school tracks progress across lessons</a:t>
            </a:r>
          </a:p>
          <a:p>
            <a:pPr>
              <a:spcBef>
                <a:spcPts val="1600"/>
              </a:spcBef>
              <a:spcAft>
                <a:spcPts val="800"/>
              </a:spcAft>
            </a:pPr>
            <a:r>
              <a:rPr sz="1050" b="1">
                <a:solidFill>
                  <a:srgbClr val="935F1B"/>
                </a:solidFill>
                <a:latin typeface="Helvetica Neue"/>
              </a:rPr>
              <a:t>WHO BUYS IT</a:t>
            </a:r>
          </a:p>
          <a:p>
            <a:pPr>
              <a:lnSpc>
                <a:spcPct val="140000"/>
              </a:lnSpc>
              <a:spcBef>
                <a:spcPts val="0"/>
              </a:spcBef>
              <a:spcAft>
                <a:spcPts val="0"/>
              </a:spcAft>
            </a:pPr>
            <a:r>
              <a:rPr sz="1350" b="0">
                <a:solidFill>
                  <a:srgbClr val="4A4741"/>
                </a:solidFill>
                <a:latin typeface="Helvetica Neue"/>
              </a:rPr>
              <a:t>Driving schools, as an add-on to AutodromRef.</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[4][133][134]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56</a:t>
            </a:r>
          </a:p>
        </p:txBody>
      </p:sp>
      <p:sp>
        <p:nvSpPr>
          <p:cNvPr id="11" name="Rectangle 10"/>
          <p:cNvSpPr/>
          <p:nvPr/>
        </p:nvSpPr>
        <p:spPr>
          <a:xfrm>
            <a:off x="0" y="0"/>
            <a:ext cx="12191969" cy="66674"/>
          </a:xfrm>
          <a:prstGeom prst="rect">
            <a:avLst/>
          </a:prstGeom>
          <a:solidFill>
            <a:srgbClr val="BC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6F7F32"/>
        </a:solidFill>
        <a:effectLst/>
      </p:bgPr>
    </p:bg>
    <p:spTree>
      <p:nvGrpSpPr>
        <p:cNvPr id="1" name=""/>
        <p:cNvGrpSpPr/>
        <p:nvPr/>
      </p:nvGrpSpPr>
      <p:grpSpPr/>
      <p:sp>
        <p:nvSpPr>
          <p:cNvPr id="2" name="TextBox 1"/>
          <p:cNvSpPr txBox="1"/>
          <p:nvPr/>
        </p:nvSpPr>
        <p:spPr>
          <a:xfrm>
            <a:off x="838197" y="3809990"/>
            <a:ext cx="5714985" cy="247649"/>
          </a:xfrm>
          <a:prstGeom prst="rect">
            <a:avLst/>
          </a:prstGeom>
          <a:noFill/>
        </p:spPr>
        <p:txBody>
          <a:bodyPr wrap="square" anchor="t" lIns="0" rIns="0" tIns="0" bIns="0">
            <a:spAutoFit/>
          </a:bodyPr>
          <a:lstStyle/>
          <a:p>
            <a:pPr>
              <a:spcBef>
                <a:spcPts val="0"/>
              </a:spcBef>
              <a:spcAft>
                <a:spcPts val="0"/>
              </a:spcAft>
            </a:pPr>
            <a:r>
              <a:rPr sz="1125" b="1">
                <a:solidFill>
                  <a:srgbClr val="9A9792"/>
                </a:solidFill>
                <a:latin typeface="Helvetica Neue"/>
              </a:rPr>
              <a:t>TIER B · 29 IDEAS</a:t>
            </a:r>
          </a:p>
        </p:txBody>
      </p:sp>
      <p:sp>
        <p:nvSpPr>
          <p:cNvPr id="3" name="TextBox 2"/>
          <p:cNvSpPr txBox="1"/>
          <p:nvPr/>
        </p:nvSpPr>
        <p:spPr>
          <a:xfrm>
            <a:off x="838197" y="4171939"/>
            <a:ext cx="10001224" cy="838197"/>
          </a:xfrm>
          <a:prstGeom prst="rect">
            <a:avLst/>
          </a:prstGeom>
          <a:noFill/>
        </p:spPr>
        <p:txBody>
          <a:bodyPr wrap="square" anchor="t" lIns="0" rIns="0" tIns="0" bIns="0">
            <a:spAutoFit/>
          </a:bodyPr>
          <a:lstStyle/>
          <a:p>
            <a:pPr>
              <a:lnSpc>
                <a:spcPct val="106000"/>
              </a:lnSpc>
              <a:spcBef>
                <a:spcPts val="0"/>
              </a:spcBef>
              <a:spcAft>
                <a:spcPts val="0"/>
              </a:spcAft>
            </a:pPr>
            <a:r>
              <a:rPr sz="4800" b="1">
                <a:solidFill>
                  <a:srgbClr val="FFFFFF"/>
                </a:solidFill>
                <a:latin typeface="Helvetica Neue"/>
              </a:rPr>
              <a:t>Solid B2B niches</a:t>
            </a:r>
          </a:p>
        </p:txBody>
      </p:sp>
      <p:sp>
        <p:nvSpPr>
          <p:cNvPr id="4" name="TextBox 3"/>
          <p:cNvSpPr txBox="1"/>
          <p:nvPr/>
        </p:nvSpPr>
        <p:spPr>
          <a:xfrm>
            <a:off x="838197" y="4952987"/>
            <a:ext cx="8572478" cy="571498"/>
          </a:xfrm>
          <a:prstGeom prst="rect">
            <a:avLst/>
          </a:prstGeom>
          <a:noFill/>
        </p:spPr>
        <p:txBody>
          <a:bodyPr wrap="square" anchor="t" lIns="0" rIns="0" tIns="0" bIns="0">
            <a:spAutoFit/>
          </a:bodyPr>
          <a:lstStyle/>
          <a:p>
            <a:pPr>
              <a:lnSpc>
                <a:spcPct val="140000"/>
              </a:lnSpc>
              <a:spcBef>
                <a:spcPts val="0"/>
              </a:spcBef>
              <a:spcAft>
                <a:spcPts val="0"/>
              </a:spcAft>
            </a:pPr>
            <a:r>
              <a:rPr sz="1500" b="0">
                <a:solidFill>
                  <a:srgbClr val="C8C5C0"/>
                </a:solidFill>
                <a:latin typeface="Helvetica Neue"/>
              </a:rPr>
              <a:t>Real payers and buildable in a sprint, but smaller markets. Strong modules inside a Tier A platform.</a:t>
            </a:r>
          </a:p>
        </p:txBody>
      </p:sp>
      <p:sp>
        <p:nvSpPr>
          <p:cNvPr id="5" name="TextBox 4"/>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8A8782"/>
                </a:solidFill>
                <a:latin typeface="Helvetica Neue"/>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27 / 91 · USED-CAR DEALERS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Sotiladi Scout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cars for sale that are never posted online, from "for sale" notes in windows.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Many sellers just put a "Sotiladi" (for sale) note with a phone number behind the windshield. A dealer walks a market or street with a phone; the app reads each note, identifies the car and ranks a call list by expected profit.</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These cars never appear on websites, so dealers who find them first get better deals. Today someone walks around writing numbers by hand.</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dealer finds ten unlisted cars in one market walk</a:t>
            </a:r>
          </a:p>
          <a:p>
            <a:pPr>
              <a:lnSpc>
                <a:spcPct val="140000"/>
              </a:lnSpc>
              <a:spcBef>
                <a:spcPts val="0"/>
              </a:spcBef>
              <a:spcAft>
                <a:spcPts val="800"/>
              </a:spcAft>
            </a:pPr>
            <a:r>
              <a:rPr sz="1350" b="0">
                <a:solidFill>
                  <a:srgbClr val="4A4741"/>
                </a:solidFill>
                <a:latin typeface="Helvetica Neue"/>
              </a:rPr>
              <a:t>–  A trade-in buyer fills stock faster</a:t>
            </a:r>
          </a:p>
          <a:p>
            <a:pPr>
              <a:lnSpc>
                <a:spcPct val="140000"/>
              </a:lnSpc>
              <a:spcBef>
                <a:spcPts val="0"/>
              </a:spcBef>
              <a:spcAft>
                <a:spcPts val="800"/>
              </a:spcAft>
            </a:pPr>
            <a:r>
              <a:rPr sz="1350" b="0">
                <a:solidFill>
                  <a:srgbClr val="4A4741"/>
                </a:solidFill>
                <a:latin typeface="Helvetica Neue"/>
              </a:rPr>
              <a:t>–  A marketplace invites offline sellers online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Used-car dealers and car flippers.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[36][37][38]</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59</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28 / 91 · GAS-CONVERSION WORKSHOPS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Ko'pik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a gas-equipment leak test was really done, from a video of soapy joints.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After fitting methane or propane equipment, the technician brushes soapy water on every joint and films it. Ko'pik checks every joint was covered, spots bubbles that grow (a leak) and saves a dated record tied to the gas cylinder.</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Gas leaks in cars can cause fires and explosions. The rules track cylinders but say nothing about proving the leak test, and a third of used-car listings run on gas.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conversion workshop proves every car passed a leak test</a:t>
            </a:r>
          </a:p>
          <a:p>
            <a:pPr>
              <a:lnSpc>
                <a:spcPct val="140000"/>
              </a:lnSpc>
              <a:spcBef>
                <a:spcPts val="0"/>
              </a:spcBef>
              <a:spcAft>
                <a:spcPts val="800"/>
              </a:spcAft>
            </a:pPr>
            <a:r>
              <a:rPr sz="1350" b="0">
                <a:solidFill>
                  <a:srgbClr val="4A4741"/>
                </a:solidFill>
                <a:latin typeface="Helvetica Neue"/>
              </a:rPr>
              <a:t>–  An inspection centre reviews tests remotely</a:t>
            </a:r>
          </a:p>
          <a:p>
            <a:pPr>
              <a:lnSpc>
                <a:spcPct val="140000"/>
              </a:lnSpc>
              <a:spcBef>
                <a:spcPts val="0"/>
              </a:spcBef>
              <a:spcAft>
                <a:spcPts val="800"/>
              </a:spcAft>
            </a:pPr>
            <a:r>
              <a:rPr sz="1350" b="0">
                <a:solidFill>
                  <a:srgbClr val="4A4741"/>
                </a:solidFill>
                <a:latin typeface="Helvetica Neue"/>
              </a:rPr>
              <a:t>–  An insurer checks a car's gas safety record</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Gas-conversion workshops and inspection centres.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[10][11][12]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61</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29 / 91 · INSPECTORS &amp; STATIONS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BallonID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Reads a gas cylinder's stamped label and says if it is too old or untested.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Every gas cylinder has numbers stamped into the metal: serial, dates, pressure and gas type. They are hard to read under rust and paint. BallonID takes two photos lit from the side, reads the stamp and applies the official rules: refill, retest or refuse.</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An out-of-date or wrong cylinder can explode; in Fergana a propane cylinder filled with methane did. Today checks look up the car's plate, not the cylinder itself.</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filling station checks the cylinder before refuelling</a:t>
            </a:r>
          </a:p>
          <a:p>
            <a:pPr>
              <a:lnSpc>
                <a:spcPct val="140000"/>
              </a:lnSpc>
              <a:spcBef>
                <a:spcPts val="0"/>
              </a:spcBef>
              <a:spcAft>
                <a:spcPts val="800"/>
              </a:spcAft>
            </a:pPr>
            <a:r>
              <a:rPr sz="1350" b="0">
                <a:solidFill>
                  <a:srgbClr val="4A4741"/>
                </a:solidFill>
                <a:latin typeface="Helvetica Neue"/>
              </a:rPr>
              <a:t>–  An inspector reads stamps in seconds</a:t>
            </a:r>
          </a:p>
          <a:p>
            <a:pPr>
              <a:lnSpc>
                <a:spcPct val="140000"/>
              </a:lnSpc>
              <a:spcBef>
                <a:spcPts val="0"/>
              </a:spcBef>
              <a:spcAft>
                <a:spcPts val="800"/>
              </a:spcAft>
            </a:pPr>
            <a:r>
              <a:rPr sz="1350" b="0">
                <a:solidFill>
                  <a:srgbClr val="4A4741"/>
                </a:solidFill>
                <a:latin typeface="Helvetica Neue"/>
              </a:rPr>
              <a:t>–  A car buyer checks a gas-converted car</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Inspection centres, car inspectors and gas stations.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[10][79][174]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63</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30 / 91 · INSPECTORS &amp; TRADE-IN</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GapGauge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Measures the gaps between a car's body panels with a bank card as the ruler.</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You hold any bank card next to the gap between, say, the door and the fender, and take photos. Because every bank card is exactly the same size, GapGauge measures the gap in millimetres and compares the left side of the car with the right.</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After a crash and repair, panels rarely line up perfectly, so uneven gaps reveal hidden accidents. Inspectors check this by eye today.</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buyer checks for hidden crash repairs</a:t>
            </a:r>
          </a:p>
          <a:p>
            <a:pPr>
              <a:lnSpc>
                <a:spcPct val="140000"/>
              </a:lnSpc>
              <a:spcBef>
                <a:spcPts val="0"/>
              </a:spcBef>
              <a:spcAft>
                <a:spcPts val="800"/>
              </a:spcAft>
            </a:pPr>
            <a:r>
              <a:rPr sz="1350" b="0">
                <a:solidFill>
                  <a:srgbClr val="4A4741"/>
                </a:solidFill>
                <a:latin typeface="Helvetica Neue"/>
              </a:rPr>
              <a:t>–  An inspector backs up a verdict with numbers</a:t>
            </a:r>
          </a:p>
          <a:p>
            <a:pPr>
              <a:lnSpc>
                <a:spcPct val="140000"/>
              </a:lnSpc>
              <a:spcBef>
                <a:spcPts val="0"/>
              </a:spcBef>
              <a:spcAft>
                <a:spcPts val="800"/>
              </a:spcAft>
            </a:pPr>
            <a:r>
              <a:rPr sz="1350" b="0">
                <a:solidFill>
                  <a:srgbClr val="4A4741"/>
                </a:solidFill>
                <a:latin typeface="Helvetica Neue"/>
              </a:rPr>
              <a:t>–  A trade-in desk prices repaired cars correctly</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Car inspection firms and dealers' trade-in desks.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[21][22][23]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65</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31 / 91 · TRADE-IN DESKS &amp; LENDERS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BoltSeal</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whether a car panel was ever removed, from close-up photos of its bolts.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At the factory, the bolts holding doors, hood and fenders are painted over. If a panel was removed for repair, a wrench leaves marks and cracks the paint. BoltSeal checks close-up photos of each bolt and flags the ones that were turned.</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It is a well-known trick of professional inspectors, but it needs expertise. Automating it gives any buyer or bank a quick hidden-repair check.</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bank checks a car before lending on it</a:t>
            </a:r>
          </a:p>
          <a:p>
            <a:pPr>
              <a:lnSpc>
                <a:spcPct val="140000"/>
              </a:lnSpc>
              <a:spcBef>
                <a:spcPts val="0"/>
              </a:spcBef>
              <a:spcAft>
                <a:spcPts val="800"/>
              </a:spcAft>
            </a:pPr>
            <a:r>
              <a:rPr sz="1350" b="0">
                <a:solidFill>
                  <a:srgbClr val="4A4741"/>
                </a:solidFill>
                <a:latin typeface="Helvetica Neue"/>
              </a:rPr>
              <a:t>–  A trade-in desk spots a replaced fender</a:t>
            </a:r>
          </a:p>
          <a:p>
            <a:pPr>
              <a:lnSpc>
                <a:spcPct val="140000"/>
              </a:lnSpc>
              <a:spcBef>
                <a:spcPts val="0"/>
              </a:spcBef>
              <a:spcAft>
                <a:spcPts val="800"/>
              </a:spcAft>
            </a:pPr>
            <a:r>
              <a:rPr sz="1350" b="0">
                <a:solidFill>
                  <a:srgbClr val="4A4741"/>
                </a:solidFill>
                <a:latin typeface="Helvetica Neue"/>
              </a:rPr>
              <a:t>–  A buyer checks a car before a full inspection</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Dealers' trade-in desks, auto lenders and inspectors.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[34][39][40]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67</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8.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32 / 91 · BANKS &amp; MARKETPLACES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Proof-of-Inspection</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the inspector's work, not the car, so banks can trust inspection reports.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a car inspector films an inspection, this app checks that all required steps were done: VIN read, odometer shown, paint gauge used. It also catches reused videos and VINs that don't match the documents.</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Banks and marketplaces rely on inspection PDFs that nobody verifies. A lazy or dishonest inspector can approve a bad car.</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bank accepts only verified inspections for car loans</a:t>
            </a:r>
          </a:p>
          <a:p>
            <a:pPr>
              <a:lnSpc>
                <a:spcPct val="140000"/>
              </a:lnSpc>
              <a:spcBef>
                <a:spcPts val="0"/>
              </a:spcBef>
              <a:spcAft>
                <a:spcPts val="800"/>
              </a:spcAft>
            </a:pPr>
            <a:r>
              <a:rPr sz="1350" b="0">
                <a:solidFill>
                  <a:srgbClr val="4A4741"/>
                </a:solidFill>
                <a:latin typeface="Helvetica Neue"/>
              </a:rPr>
              <a:t>–  A marketplace labels trustworthy inspection reports</a:t>
            </a:r>
          </a:p>
          <a:p>
            <a:pPr>
              <a:lnSpc>
                <a:spcPct val="140000"/>
              </a:lnSpc>
              <a:spcBef>
                <a:spcPts val="0"/>
              </a:spcBef>
              <a:spcAft>
                <a:spcPts val="800"/>
              </a:spcAft>
            </a:pPr>
            <a:r>
              <a:rPr sz="1350" b="0">
                <a:solidFill>
                  <a:srgbClr val="4A4741"/>
                </a:solidFill>
                <a:latin typeface="Helvetica Neue"/>
              </a:rPr>
              <a:t>–  An inspection firm proves its quality</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Banks, leasing firms and car marketplaces.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69</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33 / 91 · MOPED FLEETS &amp; LESSORS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Lowside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Shows whether a used moped or motorcycle has been crashed, from photos.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a bike falls, it scrapes the same places: levers, foot pegs, mirrors, engine covers. Lowside finds these points in photos, tells crash scrapes from normal wear, and draws a simple damage map.</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Courier fleets buy and rent out many used mopeds, and hidden crash damage makes them unsafe and costly. There were 563 moped and scooter crashes in nine months of 2026.</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courier fleet checks mopeds at hand-over and return</a:t>
            </a:r>
          </a:p>
          <a:p>
            <a:pPr>
              <a:lnSpc>
                <a:spcPct val="140000"/>
              </a:lnSpc>
              <a:spcBef>
                <a:spcPts val="0"/>
              </a:spcBef>
              <a:spcAft>
                <a:spcPts val="800"/>
              </a:spcAft>
            </a:pPr>
            <a:r>
              <a:rPr sz="1350" b="0">
                <a:solidFill>
                  <a:srgbClr val="4A4741"/>
                </a:solidFill>
                <a:latin typeface="Helvetica Neue"/>
              </a:rPr>
              <a:t>–  A lessor documents damage fairly</a:t>
            </a:r>
          </a:p>
          <a:p>
            <a:pPr>
              <a:lnSpc>
                <a:spcPct val="140000"/>
              </a:lnSpc>
              <a:spcBef>
                <a:spcPts val="0"/>
              </a:spcBef>
              <a:spcAft>
                <a:spcPts val="800"/>
              </a:spcAft>
            </a:pPr>
            <a:r>
              <a:rPr sz="1350" b="0">
                <a:solidFill>
                  <a:srgbClr val="4A4741"/>
                </a:solidFill>
                <a:latin typeface="Helvetica Neue"/>
              </a:rPr>
              <a:t>–  A buyer avoids a crashed bike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Moped leasing firms and courier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[16][43]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71</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34 / 91 · SELLERS + INSURER</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LemonBack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 money-back guarantee for used cars, priced from a 10-minute photo check.</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seller records a guided 10-minute video of the car. Checks for hidden repairs, mileage and damage price the risk. If the buyer later finds a problem the video should have shown, an insurer buys the car back within 30 days.</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Buyers fear hidden problems, which pushes prices down for honest sellers. A guarantee builds trust, and insurers need new products.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An honest seller sells faster with a guarantee</a:t>
            </a:r>
          </a:p>
          <a:p>
            <a:pPr>
              <a:lnSpc>
                <a:spcPct val="140000"/>
              </a:lnSpc>
              <a:spcBef>
                <a:spcPts val="0"/>
              </a:spcBef>
              <a:spcAft>
                <a:spcPts val="800"/>
              </a:spcAft>
            </a:pPr>
            <a:r>
              <a:rPr sz="1350" b="0">
                <a:solidFill>
                  <a:srgbClr val="4A4741"/>
                </a:solidFill>
                <a:latin typeface="Helvetica Neue"/>
              </a:rPr>
              <a:t>–  A buyer gets their money back if the car hid a repair</a:t>
            </a:r>
          </a:p>
          <a:p>
            <a:pPr>
              <a:lnSpc>
                <a:spcPct val="140000"/>
              </a:lnSpc>
              <a:spcBef>
                <a:spcPts val="0"/>
              </a:spcBef>
              <a:spcAft>
                <a:spcPts val="800"/>
              </a:spcAft>
            </a:pPr>
            <a:r>
              <a:rPr sz="1350" b="0">
                <a:solidFill>
                  <a:srgbClr val="4A4741"/>
                </a:solidFill>
                <a:latin typeface="Helvetica Neue"/>
              </a:rPr>
              <a:t>–  An insurer gains a new product line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Private sellers pay; an insurer carries the risk.</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[33][66][67]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73</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35 / 91 · INSPECTORS &amp; BUYERS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Drip-ID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which fluid a car is leaking, using a printed card and two photos.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Put the card under the car's engine and take two photos ten minutes apart. Water from the air-conditioner evaporates; oil, gearbox fluid and coolant stay and have typical colours. Drip-ID names the fluid and how serious it is.</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A leak can mean a cheap fix or a big repair. Most buyers cannot tell, and standard inspections often skip it.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buyer checks a used car for leaks</a:t>
            </a:r>
          </a:p>
          <a:p>
            <a:pPr>
              <a:lnSpc>
                <a:spcPct val="140000"/>
              </a:lnSpc>
              <a:spcBef>
                <a:spcPts val="0"/>
              </a:spcBef>
              <a:spcAft>
                <a:spcPts val="800"/>
              </a:spcAft>
            </a:pPr>
            <a:r>
              <a:rPr sz="1350" b="0">
                <a:solidFill>
                  <a:srgbClr val="4A4741"/>
                </a:solidFill>
                <a:latin typeface="Helvetica Neue"/>
              </a:rPr>
              <a:t>–  An inspector adds a leak test to the report</a:t>
            </a:r>
          </a:p>
          <a:p>
            <a:pPr>
              <a:lnSpc>
                <a:spcPct val="140000"/>
              </a:lnSpc>
              <a:spcBef>
                <a:spcPts val="0"/>
              </a:spcBef>
              <a:spcAft>
                <a:spcPts val="800"/>
              </a:spcAft>
            </a:pPr>
            <a:r>
              <a:rPr sz="1350" b="0">
                <a:solidFill>
                  <a:srgbClr val="4A4741"/>
                </a:solidFill>
                <a:latin typeface="Helvetica Neue"/>
              </a:rPr>
              <a:t>–  A driver knows whether to visit a garage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Car inspectors and used-car buyers.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[34][35]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75</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36 / 91 · DISMANTLERS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Razborka Lens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Recognises used car parts from a photo and writes the sale listing.</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Car breakers (razborka) sell thousands of used parts, many without part numbers. Razborka Lens recognises a bumper, lamp or mirror from its shape, finds which cars it fits, and drafts an Uzbek and Russian ad with a fair price.</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Listing parts by hand is slow, so most stock never gets listed. Buyers struggle to know if a part fits their car.</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breaker lists 100 parts a day instead of 10</a:t>
            </a:r>
          </a:p>
          <a:p>
            <a:pPr>
              <a:lnSpc>
                <a:spcPct val="140000"/>
              </a:lnSpc>
              <a:spcBef>
                <a:spcPts val="0"/>
              </a:spcBef>
              <a:spcAft>
                <a:spcPts val="800"/>
              </a:spcAft>
            </a:pPr>
            <a:r>
              <a:rPr sz="1350" b="0">
                <a:solidFill>
                  <a:srgbClr val="4A4741"/>
                </a:solidFill>
                <a:latin typeface="Helvetica Neue"/>
              </a:rPr>
              <a:t>–  A buyer sees which models a part fits</a:t>
            </a:r>
          </a:p>
          <a:p>
            <a:pPr>
              <a:lnSpc>
                <a:spcPct val="140000"/>
              </a:lnSpc>
              <a:spcBef>
                <a:spcPts val="0"/>
              </a:spcBef>
              <a:spcAft>
                <a:spcPts val="800"/>
              </a:spcAft>
            </a:pPr>
            <a:r>
              <a:rPr sz="1350" b="0">
                <a:solidFill>
                  <a:srgbClr val="4A4741"/>
                </a:solidFill>
                <a:latin typeface="Helvetica Neue"/>
              </a:rPr>
              <a:t>–  A parts shop prices stock fairly</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Car breakers and used-parts sellers.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[46][72]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77</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8.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37 / 91 · TYRE SHOPS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Brake Peek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brake-pad thickness during a tyre change, with one photo.</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the wheel is off for a tyre change, the brake pads are visible. The mechanic takes one photo with a small marker card. Brake Peek measures the pad thickness and sends the customer a Telegram card: fine, soon, or replace now.</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Worn brakes are dangerous, and customers rarely believe a mechanic's word. A measured photo builds trust and sells a needed repair.</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tyre shop offers a brake check with every tyre change</a:t>
            </a:r>
          </a:p>
          <a:p>
            <a:pPr>
              <a:lnSpc>
                <a:spcPct val="140000"/>
              </a:lnSpc>
              <a:spcBef>
                <a:spcPts val="0"/>
              </a:spcBef>
              <a:spcAft>
                <a:spcPts val="800"/>
              </a:spcAft>
            </a:pPr>
            <a:r>
              <a:rPr sz="1350" b="0">
                <a:solidFill>
                  <a:srgbClr val="4A4741"/>
                </a:solidFill>
                <a:latin typeface="Helvetica Neue"/>
              </a:rPr>
              <a:t>–  A driver sees proof their pads are worn</a:t>
            </a:r>
          </a:p>
          <a:p>
            <a:pPr>
              <a:lnSpc>
                <a:spcPct val="140000"/>
              </a:lnSpc>
              <a:spcBef>
                <a:spcPts val="0"/>
              </a:spcBef>
              <a:spcAft>
                <a:spcPts val="800"/>
              </a:spcAft>
            </a:pPr>
            <a:r>
              <a:rPr sz="1350" b="0">
                <a:solidFill>
                  <a:srgbClr val="4A4741"/>
                </a:solidFill>
                <a:latin typeface="Helvetica Neue"/>
              </a:rPr>
              <a:t>–  A fleet tracks brake wear across cars</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Tyre shops and service centres.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[73][74]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79</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38 / 91 · GARAGES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TremorLab</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Measures a car engine's shaking from a phone video to check its engine mounts.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Two small printed tags are stuck on the engine and the body. A phone films while someone revs the engine. TremorLab measures how far the engine rocks in millimetres and compares it with a healthy engine of the same model.</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Worn engine mounts cause vibration and damage, but mechanics judge them by feel. A measured number makes the diagnosis clear.</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garage shows a customer why the mounts need replacing</a:t>
            </a:r>
          </a:p>
          <a:p>
            <a:pPr>
              <a:lnSpc>
                <a:spcPct val="140000"/>
              </a:lnSpc>
              <a:spcBef>
                <a:spcPts val="0"/>
              </a:spcBef>
              <a:spcAft>
                <a:spcPts val="800"/>
              </a:spcAft>
            </a:pPr>
            <a:r>
              <a:rPr sz="1350" b="0">
                <a:solidFill>
                  <a:srgbClr val="4A4741"/>
                </a:solidFill>
                <a:latin typeface="Helvetica Neue"/>
              </a:rPr>
              <a:t>–  A taxi park checks engines regularly</a:t>
            </a:r>
          </a:p>
          <a:p>
            <a:pPr>
              <a:lnSpc>
                <a:spcPct val="140000"/>
              </a:lnSpc>
              <a:spcBef>
                <a:spcPts val="0"/>
              </a:spcBef>
              <a:spcAft>
                <a:spcPts val="800"/>
              </a:spcAft>
            </a:pPr>
            <a:r>
              <a:rPr sz="1350" b="0">
                <a:solidFill>
                  <a:srgbClr val="4A4741"/>
                </a:solidFill>
                <a:latin typeface="Helvetica Neue"/>
              </a:rPr>
              <a:t>–  A buyer checks a used car's engine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Garages and taxi-park workshops.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[11][75]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81</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39 / 91 · EV SERVICE ACADEMIES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Orange Guard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Scores mechanics' safety drill before they work on high-voltage electric cars.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Before touching an electric car's high-voltage system, a mechanic must follow strict steps: gloves, warning cones, lock and tag, in the right order. Orange Guard watches the drill on camera and scores each step against the manufacturer's checklist.</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Mistakes with EV high voltage can kill. Many service bays are new to EVs, and training needs a record. A person still checks the voltage.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dealer trains new EV technicians</a:t>
            </a:r>
          </a:p>
          <a:p>
            <a:pPr>
              <a:lnSpc>
                <a:spcPct val="140000"/>
              </a:lnSpc>
              <a:spcBef>
                <a:spcPts val="0"/>
              </a:spcBef>
              <a:spcAft>
                <a:spcPts val="800"/>
              </a:spcAft>
            </a:pPr>
            <a:r>
              <a:rPr sz="1350" b="0">
                <a:solidFill>
                  <a:srgbClr val="4A4741"/>
                </a:solidFill>
                <a:latin typeface="Helvetica Neue"/>
              </a:rPr>
              <a:t>–  A training college grades practical exams</a:t>
            </a:r>
          </a:p>
          <a:p>
            <a:pPr>
              <a:lnSpc>
                <a:spcPct val="140000"/>
              </a:lnSpc>
              <a:spcBef>
                <a:spcPts val="0"/>
              </a:spcBef>
              <a:spcAft>
                <a:spcPts val="800"/>
              </a:spcAft>
            </a:pPr>
            <a:r>
              <a:rPr sz="1350" b="0">
                <a:solidFill>
                  <a:srgbClr val="4A4741"/>
                </a:solidFill>
                <a:latin typeface="Helvetica Neue"/>
              </a:rPr>
              <a:t>–  A service centre keeps safety records</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EV service academies, dealers and vocational colleges.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[13][76][77]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83</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40 / 91 · BRAND OWNERS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FakeStop</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Spots fake car parts from photos of their box and label.</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Genuine filters, brake pads and spark plugs have fine print and hologram details that fakes copy badly. FakeStop compares close-up photos of the box with genuine samples and says: genuine, suspect, or unknown product.</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Fake parts are common at bazaars and can fail dangerously, like brakes. A third of Russian repair shops met fakes in 2025.</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mechanic checks parts before fitting them</a:t>
            </a:r>
          </a:p>
          <a:p>
            <a:pPr>
              <a:lnSpc>
                <a:spcPct val="140000"/>
              </a:lnSpc>
              <a:spcBef>
                <a:spcPts val="0"/>
              </a:spcBef>
              <a:spcAft>
                <a:spcPts val="800"/>
              </a:spcAft>
            </a:pPr>
            <a:r>
              <a:rPr sz="1350" b="0">
                <a:solidFill>
                  <a:srgbClr val="4A4741"/>
                </a:solidFill>
                <a:latin typeface="Helvetica Neue"/>
              </a:rPr>
              <a:t>–  A brand owner maps where fakes are sold</a:t>
            </a:r>
          </a:p>
          <a:p>
            <a:pPr>
              <a:lnSpc>
                <a:spcPct val="140000"/>
              </a:lnSpc>
              <a:spcBef>
                <a:spcPts val="0"/>
              </a:spcBef>
              <a:spcAft>
                <a:spcPts val="800"/>
              </a:spcAft>
            </a:pPr>
            <a:r>
              <a:rPr sz="1350" b="0">
                <a:solidFill>
                  <a:srgbClr val="4A4741"/>
                </a:solidFill>
                <a:latin typeface="Helvetica Neue"/>
              </a:rPr>
              <a:t>–  A buyer checks a box at the bazaar</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Car-parts brand owners and official importers.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[80][81]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85</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41 / 91 · IMPORTERS &amp; OEMS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Claim Pack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Catches fake or reused photos in dealers' warranty repair claims.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dealers ask the importer to pay for warranty repairs, they send photos of the VIN, odometer and parts. Claim Pack searches all dealers' photos and flags pictures used twice, odometers that go backwards, or parts that don't match.</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Each claim is reviewed alone, so a photo reused across dealers goes unseen. The importer pays for repairs that never happened.</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An importer audits all dealers' warranty claims</a:t>
            </a:r>
          </a:p>
          <a:p>
            <a:pPr>
              <a:lnSpc>
                <a:spcPct val="140000"/>
              </a:lnSpc>
              <a:spcBef>
                <a:spcPts val="0"/>
              </a:spcBef>
              <a:spcAft>
                <a:spcPts val="800"/>
              </a:spcAft>
            </a:pPr>
            <a:r>
              <a:rPr sz="1350" b="0">
                <a:solidFill>
                  <a:srgbClr val="4A4741"/>
                </a:solidFill>
                <a:latin typeface="Helvetica Neue"/>
              </a:rPr>
              <a:t>–  A carmaker spots a dealer with suspicious claims</a:t>
            </a:r>
          </a:p>
          <a:p>
            <a:pPr>
              <a:lnSpc>
                <a:spcPct val="140000"/>
              </a:lnSpc>
              <a:spcBef>
                <a:spcPts val="0"/>
              </a:spcBef>
              <a:spcAft>
                <a:spcPts val="800"/>
              </a:spcAft>
            </a:pPr>
            <a:r>
              <a:rPr sz="1350" b="0">
                <a:solidFill>
                  <a:srgbClr val="4A4741"/>
                </a:solidFill>
                <a:latin typeface="Helvetica Neue"/>
              </a:rPr>
              <a:t>–  Honest dealers get paid faster</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Car importers and carmakers' warranty departments.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[84][85]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87</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8.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42 / 91 · TAXI &amp; DELIVERY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Spot-Oil</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whether engine oil needs changing, from one drop on a paper card.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mechanic puts a drop of engine oil on a printed card. The oil spreads into rings; their colour and shape show how dirty or contaminated it is. Spot-Oil reads a photo of the card and says: change now, or suspected contamination.</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Fleets change oil by the calendar, often too early or too late. Gas-powered taxis wear oil differently from petrol cars.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taxi fleet changes oil only when needed</a:t>
            </a:r>
          </a:p>
          <a:p>
            <a:pPr>
              <a:lnSpc>
                <a:spcPct val="140000"/>
              </a:lnSpc>
              <a:spcBef>
                <a:spcPts val="0"/>
              </a:spcBef>
              <a:spcAft>
                <a:spcPts val="800"/>
              </a:spcAft>
            </a:pPr>
            <a:r>
              <a:rPr sz="1350" b="0">
                <a:solidFill>
                  <a:srgbClr val="4A4741"/>
                </a:solidFill>
                <a:latin typeface="Helvetica Neue"/>
              </a:rPr>
              <a:t>–  A mechanic spots coolant in the oil early</a:t>
            </a:r>
          </a:p>
          <a:p>
            <a:pPr>
              <a:lnSpc>
                <a:spcPct val="140000"/>
              </a:lnSpc>
              <a:spcBef>
                <a:spcPts val="0"/>
              </a:spcBef>
              <a:spcAft>
                <a:spcPts val="800"/>
              </a:spcAft>
            </a:pPr>
            <a:r>
              <a:rPr sz="1350" b="0">
                <a:solidFill>
                  <a:srgbClr val="4A4741"/>
                </a:solidFill>
                <a:latin typeface="Helvetica Neue"/>
              </a:rPr>
              <a:t>–  A fleet tracks engine health over time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Taxi parks and delivery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[11][92]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89</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43 / 91 · TANKER OPERATORS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Plomba Twin</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a fuel tanker's seal was not swapped during the trip.</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Fuel tankers are sealed at the depot. Plomba Twin photographs the seal at the start and at every stop and checks it is the same physical seal, not a lookalike with the same number.</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Fuel can be stolen by opening a tank and fitting a new seal with the same serial. A serial-number check alone does not catch it.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fuel company checks seals at each delivery</a:t>
            </a:r>
          </a:p>
          <a:p>
            <a:pPr>
              <a:lnSpc>
                <a:spcPct val="140000"/>
              </a:lnSpc>
              <a:spcBef>
                <a:spcPts val="0"/>
              </a:spcBef>
              <a:spcAft>
                <a:spcPts val="800"/>
              </a:spcAft>
            </a:pPr>
            <a:r>
              <a:rPr sz="1350" b="0">
                <a:solidFill>
                  <a:srgbClr val="4A4741"/>
                </a:solidFill>
                <a:latin typeface="Helvetica Neue"/>
              </a:rPr>
              <a:t>–  A cargo insurer requires seal photos</a:t>
            </a:r>
          </a:p>
          <a:p>
            <a:pPr>
              <a:lnSpc>
                <a:spcPct val="140000"/>
              </a:lnSpc>
              <a:spcBef>
                <a:spcPts val="0"/>
              </a:spcBef>
              <a:spcAft>
                <a:spcPts val="800"/>
              </a:spcAft>
            </a:pPr>
            <a:r>
              <a:rPr sz="1350" b="0">
                <a:solidFill>
                  <a:srgbClr val="4A4741"/>
                </a:solidFill>
                <a:latin typeface="Helvetica Neue"/>
              </a:rPr>
              <a:t>–  A forwarder proves a trip was clean</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Fuel-tanker operators, forwarders and cargo insurers.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[93][94]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91</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44 / 91 · DEVELOPERS &amp; TRADERS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CubeProof</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Measures the volume of sand or gravel in a truck from one photo.</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Before the truck leaves the quarry, one photo is taken from above. CubeProof measures the load's volume and weight and flags short loads, so the buyer knows they got what they paid for.</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Buyers of building materials often receive less than they paid for; one quarry pilot found 2-3% under-delivery. Laser scanners are expensive; a phone photo is not.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builder checks every delivered load</a:t>
            </a:r>
          </a:p>
          <a:p>
            <a:pPr>
              <a:lnSpc>
                <a:spcPct val="140000"/>
              </a:lnSpc>
              <a:spcBef>
                <a:spcPts val="0"/>
              </a:spcBef>
              <a:spcAft>
                <a:spcPts val="800"/>
              </a:spcAft>
            </a:pPr>
            <a:r>
              <a:rPr sz="1350" b="0">
                <a:solidFill>
                  <a:srgbClr val="4A4741"/>
                </a:solidFill>
                <a:latin typeface="Helvetica Neue"/>
              </a:rPr>
              <a:t>–  A trader proves full loads to customers</a:t>
            </a:r>
          </a:p>
          <a:p>
            <a:pPr>
              <a:lnSpc>
                <a:spcPct val="140000"/>
              </a:lnSpc>
              <a:spcBef>
                <a:spcPts val="0"/>
              </a:spcBef>
              <a:spcAft>
                <a:spcPts val="800"/>
              </a:spcAft>
            </a:pPr>
            <a:r>
              <a:rPr sz="1350" b="0">
                <a:solidFill>
                  <a:srgbClr val="4A4741"/>
                </a:solidFill>
                <a:latin typeface="Helvetica Neue"/>
              </a:rPr>
              <a:t>–  A city checks contractors' deliveries</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Construction companies, material traders and municipal contractors.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[95][96][97]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93</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45 / 91 · CORRIDOR FORWARDERS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QueueLedger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truck drivers how long the border queue will take, from one photo.</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Someone near the border photographs the truck queue. QueueLedger counts the trucks, measures the line's length and, with the crossing's usual speed, estimates how many hours the wait will be. Results go to a Telegram bot.</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At some crossings 400+ trucks get stuck and waits pass 24 hours. Without an official e-queue, forwarders plan blind.</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forwarder picks the faster border crossing</a:t>
            </a:r>
          </a:p>
          <a:p>
            <a:pPr>
              <a:lnSpc>
                <a:spcPct val="140000"/>
              </a:lnSpc>
              <a:spcBef>
                <a:spcPts val="0"/>
              </a:spcBef>
              <a:spcAft>
                <a:spcPts val="800"/>
              </a:spcAft>
            </a:pPr>
            <a:r>
              <a:rPr sz="1350" b="0">
                <a:solidFill>
                  <a:srgbClr val="4A4741"/>
                </a:solidFill>
                <a:latin typeface="Helvetica Neue"/>
              </a:rPr>
              <a:t>–  A driver plans rest around the wait</a:t>
            </a:r>
          </a:p>
          <a:p>
            <a:pPr>
              <a:lnSpc>
                <a:spcPct val="140000"/>
              </a:lnSpc>
              <a:spcBef>
                <a:spcPts val="0"/>
              </a:spcBef>
              <a:spcAft>
                <a:spcPts val="800"/>
              </a:spcAft>
            </a:pPr>
            <a:r>
              <a:rPr sz="1350" b="0">
                <a:solidFill>
                  <a:srgbClr val="4A4741"/>
                </a:solidFill>
                <a:latin typeface="Helvetica Neue"/>
              </a:rPr>
              <a:t>–  A logistics firm warns its customer of delays</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Freight forwarders on Central Asian corridors.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[102][103][104]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95</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46 / 91 · CARGO PLATFORMS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Cargo-Fit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Picks the right delivery vehicle and price from a photo of what you want to move.</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customer photographs the items, such as a sofa, fridge or boxes. Cargo-Fit measures them, works out what fits, and suggests a Damas, Labo or bigger truck with the right number of loaders and a price.</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Dispatchers guess the vehicle size, so trucks arrive too small or too big. Wrong vehicles waste time and money.</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moving app quotes instantly from photos</a:t>
            </a:r>
          </a:p>
          <a:p>
            <a:pPr>
              <a:lnSpc>
                <a:spcPct val="140000"/>
              </a:lnSpc>
              <a:spcBef>
                <a:spcPts val="0"/>
              </a:spcBef>
              <a:spcAft>
                <a:spcPts val="800"/>
              </a:spcAft>
            </a:pPr>
            <a:r>
              <a:rPr sz="1350" b="0">
                <a:solidFill>
                  <a:srgbClr val="4A4741"/>
                </a:solidFill>
                <a:latin typeface="Helvetica Neue"/>
              </a:rPr>
              <a:t>–  A cargo-taxi dispatcher sends the right van</a:t>
            </a:r>
          </a:p>
          <a:p>
            <a:pPr>
              <a:lnSpc>
                <a:spcPct val="140000"/>
              </a:lnSpc>
              <a:spcBef>
                <a:spcPts val="0"/>
              </a:spcBef>
              <a:spcAft>
                <a:spcPts val="800"/>
              </a:spcAft>
            </a:pPr>
            <a:r>
              <a:rPr sz="1350" b="0">
                <a:solidFill>
                  <a:srgbClr val="4A4741"/>
                </a:solidFill>
                <a:latin typeface="Helvetica Neue"/>
              </a:rPr>
              <a:t>–  A customer compares prices before booking</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Cargo-taxi and moving platforms.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[73][111]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97</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8.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47 / 91 · GRAIN &amp; COTTON BUYERS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ScaleGuard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Catches cheating at truck weighbridges using the camera already there.</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At a weighbridge, trucks are weighed full and empty. ScaleGuard watches the existing camera and flags tricks: a wheel off the scale, a person on the platform, or a different truck at the second weighing.</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Cheating at the scale costs grain, cotton and cement buyers real money on every load. It needs no new hardware.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grain buyer stops paying for fake weight</a:t>
            </a:r>
          </a:p>
          <a:p>
            <a:pPr>
              <a:lnSpc>
                <a:spcPct val="140000"/>
              </a:lnSpc>
              <a:spcBef>
                <a:spcPts val="0"/>
              </a:spcBef>
              <a:spcAft>
                <a:spcPts val="800"/>
              </a:spcAft>
            </a:pPr>
            <a:r>
              <a:rPr sz="1350" b="0">
                <a:solidFill>
                  <a:srgbClr val="4A4741"/>
                </a:solidFill>
                <a:latin typeface="Helvetica Neue"/>
              </a:rPr>
              <a:t>–  A cement plant audits its scale</a:t>
            </a:r>
          </a:p>
          <a:p>
            <a:pPr>
              <a:lnSpc>
                <a:spcPct val="140000"/>
              </a:lnSpc>
              <a:spcBef>
                <a:spcPts val="0"/>
              </a:spcBef>
              <a:spcAft>
                <a:spcPts val="800"/>
              </a:spcAft>
            </a:pPr>
            <a:r>
              <a:rPr sz="1350" b="0">
                <a:solidFill>
                  <a:srgbClr val="4A4741"/>
                </a:solidFill>
                <a:latin typeface="Helvetica Neue"/>
              </a:rPr>
              <a:t>–  A cotton gin proves fair weighing to farmers</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Grain and cotton buyers and cement plants.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[113][114]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99</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48 / 91 · EV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Hakam</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electric-car charging bills against what the car actually received.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driver photographs the charger's screen and the car's "energy added" screen. Hakam compares the two numbers to catch charging someone else's car on the company card, or a charger that overbills.</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Fleets pay for charging on cards that are easy to misuse. One UK review found 31.5% of chargers out of tolerance.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An EV taxi fleet catches card misuse</a:t>
            </a:r>
          </a:p>
          <a:p>
            <a:pPr>
              <a:lnSpc>
                <a:spcPct val="140000"/>
              </a:lnSpc>
              <a:spcBef>
                <a:spcPts val="0"/>
              </a:spcBef>
              <a:spcAft>
                <a:spcPts val="800"/>
              </a:spcAft>
            </a:pPr>
            <a:r>
              <a:rPr sz="1350" b="0">
                <a:solidFill>
                  <a:srgbClr val="4A4741"/>
                </a:solidFill>
                <a:latin typeface="Helvetica Neue"/>
              </a:rPr>
              <a:t>–  A fleet ranks chargers that overbill</a:t>
            </a:r>
          </a:p>
          <a:p>
            <a:pPr>
              <a:lnSpc>
                <a:spcPct val="140000"/>
              </a:lnSpc>
              <a:spcBef>
                <a:spcPts val="0"/>
              </a:spcBef>
              <a:spcAft>
                <a:spcPts val="800"/>
              </a:spcAft>
            </a:pPr>
            <a:r>
              <a:rPr sz="1350" b="0">
                <a:solidFill>
                  <a:srgbClr val="4A4741"/>
                </a:solidFill>
                <a:latin typeface="Helvetica Neue"/>
              </a:rPr>
              <a:t>–  A charger operator proves its meters are accurate</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EV fleets and charging operators.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[115][116][117]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101</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49 / 91 · BANK SPONSORS + CITY</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Yield-to-Win</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Rewards drivers who stop for pedestrians, instead of only fining those who don't.</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Drivers sign up with their plate number. A camera at a crossing sees a driver stop for waiting pedestrians and enters them into a prize draw funded by a bank's loyalty budget.</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Pedestrians are involved in about 46% of crashes. Rewards can change habits where fines alone do not, and a sponsor gets positive publicity.</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bank runs a road-safety loyalty campaign</a:t>
            </a:r>
          </a:p>
          <a:p>
            <a:pPr>
              <a:lnSpc>
                <a:spcPct val="140000"/>
              </a:lnSpc>
              <a:spcBef>
                <a:spcPts val="0"/>
              </a:spcBef>
              <a:spcAft>
                <a:spcPts val="800"/>
              </a:spcAft>
            </a:pPr>
            <a:r>
              <a:rPr sz="1350" b="0">
                <a:solidFill>
                  <a:srgbClr val="4A4741"/>
                </a:solidFill>
                <a:latin typeface="Helvetica Neue"/>
              </a:rPr>
              <a:t>–  A city rewards safe drivers at school crossings</a:t>
            </a:r>
          </a:p>
          <a:p>
            <a:pPr>
              <a:lnSpc>
                <a:spcPct val="140000"/>
              </a:lnSpc>
              <a:spcBef>
                <a:spcPts val="0"/>
              </a:spcBef>
              <a:spcAft>
                <a:spcPts val="800"/>
              </a:spcAft>
            </a:pPr>
            <a:r>
              <a:rPr sz="1350" b="0">
                <a:solidFill>
                  <a:srgbClr val="4A4741"/>
                </a:solidFill>
                <a:latin typeface="Helvetica Neue"/>
              </a:rPr>
              <a:t>–  A driver earns cashback for stopping</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Bank sponsors (such as Uzcard or MKBANK) with a city pilot.</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[123][124]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103</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50 / 91 · ROADSIDE ASSISTANCE</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Dispatch Card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Turns a crash video into a quick summary card for emergency and assistance services.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bystander or dashcam sends a short crash video. Dispatch Card writes a short card in Uzbek or Russian: how many vehicles and people, any fire or smoke, and whether a gas cylinder may be involved.</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Responders often arrive without knowing what they will find. Gas-powered cars add a fire and explosion risk they should know about.</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roadside-assistance desk sends the right help</a:t>
            </a:r>
          </a:p>
          <a:p>
            <a:pPr>
              <a:lnSpc>
                <a:spcPct val="140000"/>
              </a:lnSpc>
              <a:spcBef>
                <a:spcPts val="0"/>
              </a:spcBef>
              <a:spcAft>
                <a:spcPts val="800"/>
              </a:spcAft>
            </a:pPr>
            <a:r>
              <a:rPr sz="1350" b="0">
                <a:solidFill>
                  <a:srgbClr val="4A4741"/>
                </a:solidFill>
                <a:latin typeface="Helvetica Neue"/>
              </a:rPr>
              <a:t>–  An insurer gets a first report within seconds</a:t>
            </a:r>
          </a:p>
          <a:p>
            <a:pPr>
              <a:lnSpc>
                <a:spcPct val="140000"/>
              </a:lnSpc>
              <a:spcBef>
                <a:spcPts val="0"/>
              </a:spcBef>
              <a:spcAft>
                <a:spcPts val="800"/>
              </a:spcAft>
            </a:pPr>
            <a:r>
              <a:rPr sz="1350" b="0">
                <a:solidFill>
                  <a:srgbClr val="4A4741"/>
                </a:solidFill>
                <a:latin typeface="Helvetica Neue"/>
              </a:rPr>
              <a:t>–  Responders know about gas risk early</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Roadside-assistance companies and insurers' claim desks.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[126]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105</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51 / 91 · SEAT RETAILERS &amp;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SeatProof</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from photos that a child car seat is installed correctly.</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parent photographs the installed child seat. SeatProof checks common mistakes: wrong seat for the child's age, wrong direction, twisted straps, chest clip too low. It marks errors on the photo and always reminds you to check tightness by hand.</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Badly installed seats protect children much less. A new draft rule proposes fines, and most parents never get a check.</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shop checks the installation when a parent buys a seat</a:t>
            </a:r>
          </a:p>
          <a:p>
            <a:pPr>
              <a:lnSpc>
                <a:spcPct val="140000"/>
              </a:lnSpc>
              <a:spcBef>
                <a:spcPts val="0"/>
              </a:spcBef>
              <a:spcAft>
                <a:spcPts val="800"/>
              </a:spcAft>
            </a:pPr>
            <a:r>
              <a:rPr sz="1350" b="0">
                <a:solidFill>
                  <a:srgbClr val="4A4741"/>
                </a:solidFill>
                <a:latin typeface="Helvetica Neue"/>
              </a:rPr>
              <a:t>–  A parent checks before a long drive</a:t>
            </a:r>
          </a:p>
          <a:p>
            <a:pPr>
              <a:lnSpc>
                <a:spcPct val="140000"/>
              </a:lnSpc>
              <a:spcBef>
                <a:spcPts val="0"/>
              </a:spcBef>
              <a:spcAft>
                <a:spcPts val="800"/>
              </a:spcAft>
            </a:pPr>
            <a:r>
              <a:rPr sz="1350" b="0">
                <a:solidFill>
                  <a:srgbClr val="4A4741"/>
                </a:solidFill>
                <a:latin typeface="Helvetica Neue"/>
              </a:rPr>
              <a:t>–  A taxi company shows its child seats are installed well</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Child-seat retailers, and parents per check.</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[127][128]</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107</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8.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52 / 91 · DEVELOPERS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GateWash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construction trucks leave the site with clean wheels and covered loads.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camera at the site exit watches every truck pass the wheel wash. GateWash logs how long it washed, whether the load was covered and the plate, in a tamper-proof record inspectors can check.</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Mud and dust from building sites add to Tashkent's smog, and a draft rule covers about 1,700 sites. Developers need proof to avoid fines.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developer shows inspectors a clean record</a:t>
            </a:r>
          </a:p>
          <a:p>
            <a:pPr>
              <a:lnSpc>
                <a:spcPct val="140000"/>
              </a:lnSpc>
              <a:spcBef>
                <a:spcPts val="0"/>
              </a:spcBef>
              <a:spcAft>
                <a:spcPts val="800"/>
              </a:spcAft>
            </a:pPr>
            <a:r>
              <a:rPr sz="1350" b="0">
                <a:solidFill>
                  <a:srgbClr val="4A4741"/>
                </a:solidFill>
                <a:latin typeface="Helvetica Neue"/>
              </a:rPr>
              <a:t>–  An inspector checks a site remotely</a:t>
            </a:r>
          </a:p>
          <a:p>
            <a:pPr>
              <a:lnSpc>
                <a:spcPct val="140000"/>
              </a:lnSpc>
              <a:spcBef>
                <a:spcPts val="0"/>
              </a:spcBef>
              <a:spcAft>
                <a:spcPts val="800"/>
              </a:spcAft>
            </a:pPr>
            <a:r>
              <a:rPr sz="1350" b="0">
                <a:solidFill>
                  <a:srgbClr val="4A4741"/>
                </a:solidFill>
                <a:latin typeface="Helvetica Neue"/>
              </a:rPr>
              <a:t>–  A contractor finds lazy drivers</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Construction developers and contractors.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[144][145][146][147]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109</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0.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53 / 91 · CHINESE-EV DEALERS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Plug-Ready</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if a new EV owner's home can safely charge the car, from a phone video.</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When someone buys an electric car, they film their parking spot, electricity meter, fuse box and socket. Plug-Ready reads the ratings, measures the cable distance with a bank card, flags dangers and quotes the right home charger.</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New EV owners often charge from unsafe sockets or extension cords, which manuals forbid. A survey visit costs time; a video doesn't.</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dealer sells a home charger with every EV</a:t>
            </a:r>
          </a:p>
          <a:p>
            <a:pPr>
              <a:lnSpc>
                <a:spcPct val="140000"/>
              </a:lnSpc>
              <a:spcBef>
                <a:spcPts val="0"/>
              </a:spcBef>
              <a:spcAft>
                <a:spcPts val="800"/>
              </a:spcAft>
            </a:pPr>
            <a:r>
              <a:rPr sz="1350" b="0">
                <a:solidFill>
                  <a:srgbClr val="4A4741"/>
                </a:solidFill>
                <a:latin typeface="Helvetica Neue"/>
              </a:rPr>
              <a:t>–  A bank adds a charger to the car loan</a:t>
            </a:r>
          </a:p>
          <a:p>
            <a:pPr>
              <a:lnSpc>
                <a:spcPct val="140000"/>
              </a:lnSpc>
              <a:spcBef>
                <a:spcPts val="0"/>
              </a:spcBef>
              <a:spcAft>
                <a:spcPts val="800"/>
              </a:spcAft>
            </a:pPr>
            <a:r>
              <a:rPr sz="1350" b="0">
                <a:solidFill>
                  <a:srgbClr val="4A4741"/>
                </a:solidFill>
                <a:latin typeface="Helvetica Neue"/>
              </a:rPr>
              <a:t>–  An owner learns they need an electrician first</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EV dealers and charger installers, plus banks.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[172][173]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111</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2.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54 / 91 · EV TAXI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ChargeMD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Explains a charger's error message in plain language, from a photo.</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Public chargers often show error codes in Chinese or English that drivers cannot understand. The driver photographs the screen; ChargeMD explains the problem, says what to do, and reports it to the operator.</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An EV taxi stuck at a broken charger loses income. Operators also learn which chargers fail, helping build a reliable uptime map.</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taxi driver fixes a simple charging error on the spot</a:t>
            </a:r>
          </a:p>
          <a:p>
            <a:pPr>
              <a:lnSpc>
                <a:spcPct val="140000"/>
              </a:lnSpc>
              <a:spcBef>
                <a:spcPts val="0"/>
              </a:spcBef>
              <a:spcAft>
                <a:spcPts val="800"/>
              </a:spcAft>
            </a:pPr>
            <a:r>
              <a:rPr sz="1350" b="0">
                <a:solidFill>
                  <a:srgbClr val="4A4741"/>
                </a:solidFill>
                <a:latin typeface="Helvetica Neue"/>
              </a:rPr>
              <a:t>–  An operator gets precise fault reports</a:t>
            </a:r>
          </a:p>
          <a:p>
            <a:pPr>
              <a:lnSpc>
                <a:spcPct val="140000"/>
              </a:lnSpc>
              <a:spcBef>
                <a:spcPts val="0"/>
              </a:spcBef>
              <a:spcAft>
                <a:spcPts val="800"/>
              </a:spcAft>
            </a:pPr>
            <a:r>
              <a:rPr sz="1350" b="0">
                <a:solidFill>
                  <a:srgbClr val="4A4741"/>
                </a:solidFill>
                <a:latin typeface="Helvetica Neue"/>
              </a:rPr>
              <a:t>–  Drivers see which chargers really work</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EV taxi fleets and charging operators.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[13][175][176]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113</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4.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B · 55 / 91 · LENDERS &amp; IMPORT YARDS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YardAudit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Counts and checks a dealer's cars against the bank's list, from a walk-around video.</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576327"/>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Banks lend money to dealers against the cars in their yard. The bank's agent walks the yard filming; YardAudit reads every plate and VIN and compares them with the pledged list to find missing cars.</a:t>
            </a:r>
          </a:p>
          <a:p>
            <a:pPr>
              <a:spcBef>
                <a:spcPts val="1800"/>
              </a:spcBef>
              <a:spcAft>
                <a:spcPts val="800"/>
              </a:spcAft>
            </a:pPr>
            <a:r>
              <a:rPr sz="1050" b="1">
                <a:solidFill>
                  <a:srgbClr val="576327"/>
                </a:solidFill>
                <a:latin typeface="Helvetica Neue"/>
              </a:rPr>
              <a:t>WHY IT MATTERS</a:t>
            </a:r>
          </a:p>
          <a:p>
            <a:pPr>
              <a:lnSpc>
                <a:spcPct val="145000"/>
              </a:lnSpc>
              <a:spcBef>
                <a:spcPts val="0"/>
              </a:spcBef>
              <a:spcAft>
                <a:spcPts val="0"/>
              </a:spcAft>
            </a:pPr>
            <a:r>
              <a:rPr sz="1575" b="0">
                <a:solidFill>
                  <a:srgbClr val="1A1917"/>
                </a:solidFill>
                <a:latin typeface="Helvetica Neue"/>
              </a:rPr>
              <a:t>If a dealer sells pledged cars without telling the bank, the loan loses its security. Counting by hand is slow and error-prone.</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576327"/>
                </a:solidFill>
                <a:latin typeface="Helvetica Neue"/>
              </a:rPr>
              <a:t>USE CASES</a:t>
            </a:r>
          </a:p>
          <a:p>
            <a:pPr>
              <a:lnSpc>
                <a:spcPct val="140000"/>
              </a:lnSpc>
              <a:spcBef>
                <a:spcPts val="0"/>
              </a:spcBef>
              <a:spcAft>
                <a:spcPts val="800"/>
              </a:spcAft>
            </a:pPr>
            <a:r>
              <a:rPr sz="1350" b="0">
                <a:solidFill>
                  <a:srgbClr val="4A4741"/>
                </a:solidFill>
                <a:latin typeface="Helvetica Neue"/>
              </a:rPr>
              <a:t>–  A bank audits a dealer's stock in 10 minutes</a:t>
            </a:r>
          </a:p>
          <a:p>
            <a:pPr>
              <a:lnSpc>
                <a:spcPct val="140000"/>
              </a:lnSpc>
              <a:spcBef>
                <a:spcPts val="0"/>
              </a:spcBef>
              <a:spcAft>
                <a:spcPts val="800"/>
              </a:spcAft>
            </a:pPr>
            <a:r>
              <a:rPr sz="1350" b="0">
                <a:solidFill>
                  <a:srgbClr val="4A4741"/>
                </a:solidFill>
                <a:latin typeface="Helvetica Neue"/>
              </a:rPr>
              <a:t>–  An import yard tracks cars without plates</a:t>
            </a:r>
          </a:p>
          <a:p>
            <a:pPr>
              <a:lnSpc>
                <a:spcPct val="140000"/>
              </a:lnSpc>
              <a:spcBef>
                <a:spcPts val="0"/>
              </a:spcBef>
              <a:spcAft>
                <a:spcPts val="800"/>
              </a:spcAft>
            </a:pPr>
            <a:r>
              <a:rPr sz="1350" b="0">
                <a:solidFill>
                  <a:srgbClr val="4A4741"/>
                </a:solidFill>
                <a:latin typeface="Helvetica Neue"/>
              </a:rPr>
              <a:t>–  A lender spots missing cars early</a:t>
            </a:r>
          </a:p>
          <a:p>
            <a:pPr>
              <a:spcBef>
                <a:spcPts val="1600"/>
              </a:spcBef>
              <a:spcAft>
                <a:spcPts val="800"/>
              </a:spcAft>
            </a:pPr>
            <a:r>
              <a:rPr sz="1050" b="1">
                <a:solidFill>
                  <a:srgbClr val="576327"/>
                </a:solidFill>
                <a:latin typeface="Helvetica Neue"/>
              </a:rPr>
              <a:t>WHO BUYS IT</a:t>
            </a:r>
          </a:p>
          <a:p>
            <a:pPr>
              <a:lnSpc>
                <a:spcPct val="140000"/>
              </a:lnSpc>
              <a:spcBef>
                <a:spcPts val="0"/>
              </a:spcBef>
              <a:spcAft>
                <a:spcPts val="0"/>
              </a:spcAft>
            </a:pPr>
            <a:r>
              <a:rPr sz="1350" b="0">
                <a:solidFill>
                  <a:srgbClr val="4A4741"/>
                </a:solidFill>
                <a:latin typeface="Helvetica Neue"/>
              </a:rPr>
              <a:t>Banks and leasing firms that lend to dealers, and import yards.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[180][193]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115</a:t>
            </a:r>
          </a:p>
        </p:txBody>
      </p:sp>
      <p:sp>
        <p:nvSpPr>
          <p:cNvPr id="11" name="Rectangle 10"/>
          <p:cNvSpPr/>
          <p:nvPr/>
        </p:nvSpPr>
        <p:spPr>
          <a:xfrm>
            <a:off x="0" y="0"/>
            <a:ext cx="12191969" cy="66674"/>
          </a:xfrm>
          <a:prstGeom prst="rect">
            <a:avLst/>
          </a:prstGeom>
          <a:solidFill>
            <a:srgbClr val="6F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6.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3F7D4E"/>
        </a:solidFill>
        <a:effectLst/>
      </p:bgPr>
    </p:bg>
    <p:spTree>
      <p:nvGrpSpPr>
        <p:cNvPr id="1" name=""/>
        <p:cNvGrpSpPr/>
        <p:nvPr/>
      </p:nvGrpSpPr>
      <p:grpSpPr/>
      <p:sp>
        <p:nvSpPr>
          <p:cNvPr id="2" name="TextBox 1"/>
          <p:cNvSpPr txBox="1"/>
          <p:nvPr/>
        </p:nvSpPr>
        <p:spPr>
          <a:xfrm>
            <a:off x="838197" y="3809990"/>
            <a:ext cx="5714985" cy="247649"/>
          </a:xfrm>
          <a:prstGeom prst="rect">
            <a:avLst/>
          </a:prstGeom>
          <a:noFill/>
        </p:spPr>
        <p:txBody>
          <a:bodyPr wrap="square" anchor="t" lIns="0" rIns="0" tIns="0" bIns="0">
            <a:spAutoFit/>
          </a:bodyPr>
          <a:lstStyle/>
          <a:p>
            <a:pPr>
              <a:spcBef>
                <a:spcPts val="0"/>
              </a:spcBef>
              <a:spcAft>
                <a:spcPts val="0"/>
              </a:spcAft>
            </a:pPr>
            <a:r>
              <a:rPr sz="1125" b="1">
                <a:solidFill>
                  <a:srgbClr val="9A9792"/>
                </a:solidFill>
                <a:latin typeface="Helvetica Neue"/>
              </a:rPr>
              <a:t>TIER C · 36 IDEAS</a:t>
            </a:r>
          </a:p>
        </p:txBody>
      </p:sp>
      <p:sp>
        <p:nvSpPr>
          <p:cNvPr id="3" name="TextBox 2"/>
          <p:cNvSpPr txBox="1"/>
          <p:nvPr/>
        </p:nvSpPr>
        <p:spPr>
          <a:xfrm>
            <a:off x="838197" y="4171939"/>
            <a:ext cx="10001224" cy="838197"/>
          </a:xfrm>
          <a:prstGeom prst="rect">
            <a:avLst/>
          </a:prstGeom>
          <a:noFill/>
        </p:spPr>
        <p:txBody>
          <a:bodyPr wrap="square" anchor="t" lIns="0" rIns="0" tIns="0" bIns="0">
            <a:spAutoFit/>
          </a:bodyPr>
          <a:lstStyle/>
          <a:p>
            <a:pPr>
              <a:lnSpc>
                <a:spcPct val="106000"/>
              </a:lnSpc>
              <a:spcBef>
                <a:spcPts val="0"/>
              </a:spcBef>
              <a:spcAft>
                <a:spcPts val="0"/>
              </a:spcAft>
            </a:pPr>
            <a:r>
              <a:rPr sz="4800" b="1">
                <a:solidFill>
                  <a:srgbClr val="FFFFFF"/>
                </a:solidFill>
                <a:latin typeface="Helvetica Neue"/>
              </a:rPr>
              <a:t>Great demo, hard investor case</a:t>
            </a:r>
          </a:p>
        </p:txBody>
      </p:sp>
      <p:sp>
        <p:nvSpPr>
          <p:cNvPr id="4" name="TextBox 3"/>
          <p:cNvSpPr txBox="1"/>
          <p:nvPr/>
        </p:nvSpPr>
        <p:spPr>
          <a:xfrm>
            <a:off x="838197" y="4952987"/>
            <a:ext cx="8572478" cy="571498"/>
          </a:xfrm>
          <a:prstGeom prst="rect">
            <a:avLst/>
          </a:prstGeom>
          <a:noFill/>
        </p:spPr>
        <p:txBody>
          <a:bodyPr wrap="square" anchor="t" lIns="0" rIns="0" tIns="0" bIns="0">
            <a:spAutoFit/>
          </a:bodyPr>
          <a:lstStyle/>
          <a:p>
            <a:pPr>
              <a:lnSpc>
                <a:spcPct val="140000"/>
              </a:lnSpc>
              <a:spcBef>
                <a:spcPts val="0"/>
              </a:spcBef>
              <a:spcAft>
                <a:spcPts val="0"/>
              </a:spcAft>
            </a:pPr>
            <a:r>
              <a:rPr sz="1500" b="0">
                <a:solidFill>
                  <a:srgbClr val="C8C5C0"/>
                </a:solidFill>
                <a:latin typeface="Helvetica Neue"/>
              </a:rPr>
              <a:t>City hall is the only payer, the ticket is too small, or it is a feature of a bigger product.</a:t>
            </a:r>
          </a:p>
        </p:txBody>
      </p:sp>
      <p:sp>
        <p:nvSpPr>
          <p:cNvPr id="5" name="TextBox 4"/>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8A8782"/>
                </a:solidFill>
                <a:latin typeface="Helvetica Neue"/>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56 / 91 · CITY HALL: ECOLOGY</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PlumeWatch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Spots trucks blowing black smoke or driving with uncovered loads, from road cameras.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Existing roadside cameras watch passing trucks. PlumeWatch grades how dark each truck's exhaust smoke is, checks whether loads are covered, reads the plate, and keeps a list of repeat offenders for inspectors to send for repair.</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Vehicles cause about 16% of Tashkent's air pollution, and the city has a smog commission. Fixing the worst trucks gives the biggest gain.</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ecology inspector targets the dirtiest trucks</a:t>
            </a:r>
          </a:p>
          <a:p>
            <a:pPr>
              <a:lnSpc>
                <a:spcPct val="140000"/>
              </a:lnSpc>
              <a:spcBef>
                <a:spcPts val="0"/>
              </a:spcBef>
              <a:spcAft>
                <a:spcPts val="800"/>
              </a:spcAft>
            </a:pPr>
            <a:r>
              <a:rPr sz="1350" b="0">
                <a:solidFill>
                  <a:srgbClr val="4A4741"/>
                </a:solidFill>
                <a:latin typeface="Helvetica Neue"/>
              </a:rPr>
              <a:t>–  The smog commission tracks repairs</a:t>
            </a:r>
          </a:p>
          <a:p>
            <a:pPr>
              <a:lnSpc>
                <a:spcPct val="140000"/>
              </a:lnSpc>
              <a:spcBef>
                <a:spcPts val="0"/>
              </a:spcBef>
              <a:spcAft>
                <a:spcPts val="800"/>
              </a:spcAft>
            </a:pPr>
            <a:r>
              <a:rPr sz="1350" b="0">
                <a:solidFill>
                  <a:srgbClr val="4A4741"/>
                </a:solidFill>
                <a:latin typeface="Helvetica Neue"/>
              </a:rPr>
              <a:t>–  A city measures progress against smog</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The city's ecology committee and smog commission.</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[140][141][142][143]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118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57 / 91 · CITY HALL: ROAD SAFETY</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SightTriangle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whether drivers can really see pedestrians at a crossing, from a phone video.</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An auditor stands at the stop line and slowly pans a phone across the junction. SightTriangle finds what blocks the view, like kiosks or parked cars, and says whether a driver can see far enough to stop in time at that speed.</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A crossing is only safe if drivers can see who is about to cross. Blocked views cause crashes that cameras and fines don't prevent.</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auditor checks new AI-camera crossings</a:t>
            </a:r>
          </a:p>
          <a:p>
            <a:pPr>
              <a:lnSpc>
                <a:spcPct val="140000"/>
              </a:lnSpc>
              <a:spcBef>
                <a:spcPts val="0"/>
              </a:spcBef>
              <a:spcAft>
                <a:spcPts val="800"/>
              </a:spcAft>
            </a:pPr>
            <a:r>
              <a:rPr sz="1350" b="0">
                <a:solidFill>
                  <a:srgbClr val="4A4741"/>
                </a:solidFill>
                <a:latin typeface="Helvetica Neue"/>
              </a:rPr>
              <a:t>–  A city decides which kiosk to move</a:t>
            </a:r>
          </a:p>
          <a:p>
            <a:pPr>
              <a:lnSpc>
                <a:spcPct val="140000"/>
              </a:lnSpc>
              <a:spcBef>
                <a:spcPts val="0"/>
              </a:spcBef>
              <a:spcAft>
                <a:spcPts val="800"/>
              </a:spcAft>
            </a:pPr>
            <a:r>
              <a:rPr sz="1350" b="0">
                <a:solidFill>
                  <a:srgbClr val="4A4741"/>
                </a:solidFill>
                <a:latin typeface="Helvetica Neue"/>
              </a:rPr>
              <a:t>–  A school asks for a safer crossing</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Road-safety audit consultants, often on development-bank projects.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[123][148]</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120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58 / 91 · CITY HALL: ROADS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SwerveMap</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potholes and road hazards by watching how drivers swerve around them.</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Fixed traffic cameras already film every road. SwerveMap tracks the cars, and when many drivers swerve at the same spot, it marks a hazard, like a pothole, open manhole or gravel, and ranks spots for repair.</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Tashkent's Safe City system has 42,750 cameras but no one watches for road damage. Drivers' behaviour reveals hazards without anyone labelling potholes.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The road agency gets a ranked repair list</a:t>
            </a:r>
          </a:p>
          <a:p>
            <a:pPr>
              <a:lnSpc>
                <a:spcPct val="140000"/>
              </a:lnSpc>
              <a:spcBef>
                <a:spcPts val="0"/>
              </a:spcBef>
              <a:spcAft>
                <a:spcPts val="800"/>
              </a:spcAft>
            </a:pPr>
            <a:r>
              <a:rPr sz="1350" b="0">
                <a:solidFill>
                  <a:srgbClr val="4A4741"/>
                </a:solidFill>
                <a:latin typeface="Helvetica Neue"/>
              </a:rPr>
              <a:t>–  A city finds dangerous spots early</a:t>
            </a:r>
          </a:p>
          <a:p>
            <a:pPr>
              <a:lnSpc>
                <a:spcPct val="140000"/>
              </a:lnSpc>
              <a:spcBef>
                <a:spcPts val="0"/>
              </a:spcBef>
              <a:spcAft>
                <a:spcPts val="800"/>
              </a:spcAft>
            </a:pPr>
            <a:r>
              <a:rPr sz="1350" b="0">
                <a:solidFill>
                  <a:srgbClr val="4A4741"/>
                </a:solidFill>
                <a:latin typeface="Helvetica Neue"/>
              </a:rPr>
              <a:t>–  An insurer sees accident-prone points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The road agency and city hall.</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[149][150]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122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59 / 91 · CITY HALL</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ForcedOnRoad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Maps sidewalks too narrow or blocked, forcing pedestrians into traffic.</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Someone walks a street filming the sidewalk. ForcedOnRoad measures the free width and finds where parked cars or kiosks leave less than 1.2 m, so pedestrians must step onto the road. It ranks blocks by danger.</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Pedestrians are involved in about 46% of crashes. Knowing exactly where to put bollards or move parking saves lives cheaply.</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city decides where to place bollards</a:t>
            </a:r>
          </a:p>
          <a:p>
            <a:pPr>
              <a:lnSpc>
                <a:spcPct val="140000"/>
              </a:lnSpc>
              <a:spcBef>
                <a:spcPts val="0"/>
              </a:spcBef>
              <a:spcAft>
                <a:spcPts val="800"/>
              </a:spcAft>
            </a:pPr>
            <a:r>
              <a:rPr sz="1350" b="0">
                <a:solidFill>
                  <a:srgbClr val="4A4741"/>
                </a:solidFill>
                <a:latin typeface="Helvetica Neue"/>
              </a:rPr>
              <a:t>–  The parking operator moves bays off sidewalks</a:t>
            </a:r>
          </a:p>
          <a:p>
            <a:pPr>
              <a:lnSpc>
                <a:spcPct val="140000"/>
              </a:lnSpc>
              <a:spcBef>
                <a:spcPts val="0"/>
              </a:spcBef>
              <a:spcAft>
                <a:spcPts val="800"/>
              </a:spcAft>
            </a:pPr>
            <a:r>
              <a:rPr sz="1350" b="0">
                <a:solidFill>
                  <a:srgbClr val="4A4741"/>
                </a:solidFill>
                <a:latin typeface="Helvetica Neue"/>
              </a:rPr>
              <a:t>–  Activists document unsafe streets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City hall and the city's parking operator.</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[124][151][152]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124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60 / 91 · CITY UTILITIES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Rain-Ready</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blocked storm drains before a big rain, so streets don't flood.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Cameras on buses and city vehicles photograph storm drains as they drive. Rain-Ready grades how clogged each drain is and, before a forecast storm, gives the district a cleaning list starting with the lowest, most flood-prone streets.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Clogged drains flood streets and underpasses, stranding cars. Cleaning the right drains before the rain is far cheaper than dealing with floods.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district cleans the worst drains before a storm</a:t>
            </a:r>
          </a:p>
          <a:p>
            <a:pPr>
              <a:lnSpc>
                <a:spcPct val="140000"/>
              </a:lnSpc>
              <a:spcBef>
                <a:spcPts val="0"/>
              </a:spcBef>
              <a:spcAft>
                <a:spcPts val="800"/>
              </a:spcAft>
            </a:pPr>
            <a:r>
              <a:rPr sz="1350" b="0">
                <a:solidFill>
                  <a:srgbClr val="4A4741"/>
                </a:solidFill>
                <a:latin typeface="Helvetica Neue"/>
              </a:rPr>
              <a:t>–  Fleets get warnings about flooded underpasses</a:t>
            </a:r>
          </a:p>
          <a:p>
            <a:pPr>
              <a:lnSpc>
                <a:spcPct val="140000"/>
              </a:lnSpc>
              <a:spcBef>
                <a:spcPts val="0"/>
              </a:spcBef>
              <a:spcAft>
                <a:spcPts val="800"/>
              </a:spcAft>
            </a:pPr>
            <a:r>
              <a:rPr sz="1350" b="0">
                <a:solidFill>
                  <a:srgbClr val="4A4741"/>
                </a:solidFill>
                <a:latin typeface="Helvetica Neue"/>
              </a:rPr>
              <a:t>–  A city tracks drain upkeep</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District administrations and storm-water utilities.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[153][154]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126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61 / 91 · CITY HALL &amp; DONORS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SchoolGate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Measures how dangerous a school's drop-off zone is, in a 10-minute phone video.</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phone propped near the school gate records pickup time. SchoolGate counts double-parked cars, blocked crossings, U-turns and drivers who don't stop for children, then sends a one-page report with three fixes.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Children are hard for drivers to see, and school zones get chaotic. Numbers before and after a change show what really works.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school shows the city its danger hotspots</a:t>
            </a:r>
          </a:p>
          <a:p>
            <a:pPr>
              <a:lnSpc>
                <a:spcPct val="140000"/>
              </a:lnSpc>
              <a:spcBef>
                <a:spcPts val="0"/>
              </a:spcBef>
              <a:spcAft>
                <a:spcPts val="800"/>
              </a:spcAft>
            </a:pPr>
            <a:r>
              <a:rPr sz="1350" b="0">
                <a:solidFill>
                  <a:srgbClr val="4A4741"/>
                </a:solidFill>
                <a:latin typeface="Helvetica Neue"/>
              </a:rPr>
              <a:t>–  A city measures a new crossing's effect</a:t>
            </a:r>
          </a:p>
          <a:p>
            <a:pPr>
              <a:lnSpc>
                <a:spcPct val="140000"/>
              </a:lnSpc>
              <a:spcBef>
                <a:spcPts val="0"/>
              </a:spcBef>
              <a:spcAft>
                <a:spcPts val="800"/>
              </a:spcAft>
            </a:pPr>
            <a:r>
              <a:rPr sz="1350" b="0">
                <a:solidFill>
                  <a:srgbClr val="4A4741"/>
                </a:solidFill>
                <a:latin typeface="Helvetica Neue"/>
              </a:rPr>
              <a:t>–  Parents push for changes with real data</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City hall, school-safety programmes and donors.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[155][156]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128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62 / 91 · CITY CAPITAL WORKS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OverpassIgnored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Shows whether people actually use pedestrian bridges, or still cross the road below.</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camera films a pedestrian bridge or underpass. OverpassIgnored follows the people and counts who uses the stairs and who crosses at street level, and where they climb fences, showing whether the investment works.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Cities spend a lot on pedestrian bridges that many people avoid. Studies found usage anywhere from 11.6% to 93.7%.</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city decides where to add fences or crossings</a:t>
            </a:r>
          </a:p>
          <a:p>
            <a:pPr>
              <a:lnSpc>
                <a:spcPct val="140000"/>
              </a:lnSpc>
              <a:spcBef>
                <a:spcPts val="0"/>
              </a:spcBef>
              <a:spcAft>
                <a:spcPts val="800"/>
              </a:spcAft>
            </a:pPr>
            <a:r>
              <a:rPr sz="1350" b="0">
                <a:solidFill>
                  <a:srgbClr val="4A4741"/>
                </a:solidFill>
                <a:latin typeface="Helvetica Neue"/>
              </a:rPr>
              <a:t>–  Auditors check a bridge's value</a:t>
            </a:r>
          </a:p>
          <a:p>
            <a:pPr>
              <a:lnSpc>
                <a:spcPct val="140000"/>
              </a:lnSpc>
              <a:spcBef>
                <a:spcPts val="0"/>
              </a:spcBef>
              <a:spcAft>
                <a:spcPts val="800"/>
              </a:spcAft>
            </a:pPr>
            <a:r>
              <a:rPr sz="1350" b="0">
                <a:solidFill>
                  <a:srgbClr val="4A4741"/>
                </a:solidFill>
                <a:latin typeface="Helvetica Neue"/>
              </a:rPr>
              <a:t>–  Planners choose better designs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City capital-works departments and auditors.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[157][158][159]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130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63 / 91 · CITY INSPECTORS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Ruxsat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Audits EV charging sites against the regulator's checklist, from a phone video.</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An inspector films the charging site. Ruxsat reads the charger nameplates, finds the meter and the official verification marks, and checks everything against the rules, giving a pass, a fix-list or a hold.</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In March 2026, 101 Tashkent chargers were cut off over paperwork, and regular audits are planned. Operators want to pass before inspectors come.</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operator self-checks all sites before an audit</a:t>
            </a:r>
          </a:p>
          <a:p>
            <a:pPr>
              <a:lnSpc>
                <a:spcPct val="140000"/>
              </a:lnSpc>
              <a:spcBef>
                <a:spcPts val="0"/>
              </a:spcBef>
              <a:spcAft>
                <a:spcPts val="800"/>
              </a:spcAft>
            </a:pPr>
            <a:r>
              <a:rPr sz="1350" b="0">
                <a:solidFill>
                  <a:srgbClr val="4A4741"/>
                </a:solidFill>
                <a:latin typeface="Helvetica Neue"/>
              </a:rPr>
              <a:t>–  An inspector audits faster</a:t>
            </a:r>
          </a:p>
          <a:p>
            <a:pPr>
              <a:lnSpc>
                <a:spcPct val="140000"/>
              </a:lnSpc>
              <a:spcBef>
                <a:spcPts val="0"/>
              </a:spcBef>
              <a:spcAft>
                <a:spcPts val="800"/>
              </a:spcAft>
            </a:pPr>
            <a:r>
              <a:rPr sz="1350" b="0">
                <a:solidFill>
                  <a:srgbClr val="4A4741"/>
                </a:solidFill>
                <a:latin typeface="Helvetica Neue"/>
              </a:rPr>
              <a:t>–  A new site launches without paperwork surprises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City inspection teams and charging operators.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[115][160][161]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132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64 / 91 · CITY UTILITIES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SunkenLid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open, broken or sunken manhole covers and alerts the right utility.</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Dashcams or citizens' phones photograph the street. SunkenLid finds manhole covers, decides if each is flush, sunken, broken or open, and sends a ticket to the utility that owns it.</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Open or broken covers injure pedestrians and damage cars, especially at night. Several utilities own covers, so problems sit unreported.</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water utility gets a list of its broken covers</a:t>
            </a:r>
          </a:p>
          <a:p>
            <a:pPr>
              <a:lnSpc>
                <a:spcPct val="140000"/>
              </a:lnSpc>
              <a:spcBef>
                <a:spcPts val="0"/>
              </a:spcBef>
              <a:spcAft>
                <a:spcPts val="800"/>
              </a:spcAft>
            </a:pPr>
            <a:r>
              <a:rPr sz="1350" b="0">
                <a:solidFill>
                  <a:srgbClr val="4A4741"/>
                </a:solidFill>
                <a:latin typeface="Helvetica Neue"/>
              </a:rPr>
              <a:t>–  A citizen reports a dangerous hole in one photo</a:t>
            </a:r>
          </a:p>
          <a:p>
            <a:pPr>
              <a:lnSpc>
                <a:spcPct val="140000"/>
              </a:lnSpc>
              <a:spcBef>
                <a:spcPts val="0"/>
              </a:spcBef>
              <a:spcAft>
                <a:spcPts val="800"/>
              </a:spcAft>
            </a:pPr>
            <a:r>
              <a:rPr sz="1350" b="0">
                <a:solidFill>
                  <a:srgbClr val="4A4741"/>
                </a:solidFill>
                <a:latin typeface="Helvetica Neue"/>
              </a:rPr>
              <a:t>–  A district audits its streets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City hall and the utilities that own the covers.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[153][162]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134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65 / 91 · ROAD &amp; EMERGENCY AGENCIES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DustVis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Turns existing road webcams into fog and dust-storm warning sensors.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DustVis looks at fixed objects in each webcam image, like poles and buildings at known distances. The haze over them shows how far drivers can see, so it posts fog and dust-storm alerts when visibility drops.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Low visibility causes chain crashes on highways. In January 2026, fog cut visibility to 50-100 m and diverted 26 flights.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highway authority warns drivers on electronic signs</a:t>
            </a:r>
          </a:p>
          <a:p>
            <a:pPr>
              <a:lnSpc>
                <a:spcPct val="140000"/>
              </a:lnSpc>
              <a:spcBef>
                <a:spcPts val="0"/>
              </a:spcBef>
              <a:spcAft>
                <a:spcPts val="800"/>
              </a:spcAft>
            </a:pPr>
            <a:r>
              <a:rPr sz="1350" b="0">
                <a:solidFill>
                  <a:srgbClr val="4A4741"/>
                </a:solidFill>
                <a:latin typeface="Helvetica Neue"/>
              </a:rPr>
              <a:t>–  Emergency services prepare for bad visibility</a:t>
            </a:r>
          </a:p>
          <a:p>
            <a:pPr>
              <a:lnSpc>
                <a:spcPct val="140000"/>
              </a:lnSpc>
              <a:spcBef>
                <a:spcPts val="0"/>
              </a:spcBef>
              <a:spcAft>
                <a:spcPts val="800"/>
              </a:spcAft>
            </a:pPr>
            <a:r>
              <a:rPr sz="1350" b="0">
                <a:solidFill>
                  <a:srgbClr val="4A4741"/>
                </a:solidFill>
                <a:latin typeface="Helvetica Neue"/>
              </a:rPr>
              <a:t>–  Fleets delay trips through dust storms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The road agency and the emergency ministry.</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[163][164][165]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136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66 / 91 · TRAFFIC CENTRE</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GhostWorks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whether road works actually happen during the hours a lane is closed.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camera films a road-work zone through the day. GhostWorks measures how much of the road is closed and whether workers and machines are actually working, then compares that with the permitted hours.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Closed lanes with nobody working cause needless traffic jams. Tashkent is repairing 36 km of road in 2026.</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The traffic centre checks contractors' real working hours</a:t>
            </a:r>
          </a:p>
          <a:p>
            <a:pPr>
              <a:lnSpc>
                <a:spcPct val="140000"/>
              </a:lnSpc>
              <a:spcBef>
                <a:spcPts val="0"/>
              </a:spcBef>
              <a:spcAft>
                <a:spcPts val="800"/>
              </a:spcAft>
            </a:pPr>
            <a:r>
              <a:rPr sz="1350" b="0">
                <a:solidFill>
                  <a:srgbClr val="4A4741"/>
                </a:solidFill>
                <a:latin typeface="Helvetica Neue"/>
              </a:rPr>
              <a:t>–  A city fines idle closures</a:t>
            </a:r>
          </a:p>
          <a:p>
            <a:pPr>
              <a:lnSpc>
                <a:spcPct val="140000"/>
              </a:lnSpc>
              <a:spcBef>
                <a:spcPts val="0"/>
              </a:spcBef>
              <a:spcAft>
                <a:spcPts val="800"/>
              </a:spcAft>
            </a:pPr>
            <a:r>
              <a:rPr sz="1350" b="0">
                <a:solidFill>
                  <a:srgbClr val="4A4741"/>
                </a:solidFill>
                <a:latin typeface="Helvetica Neue"/>
              </a:rPr>
              <a:t>–  Contractors get a fair record of their work</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The city traffic centre and city hall.</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[166][167]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138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67 / 91 · AUDITORS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PatchLedger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Proves a road repair was really done, using street photos from before and after.</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Street-level photos from past years are compared with a new drive. PatchLedger finds where a patch exists now that did not before, and records it with time and place so it can't be faked.</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Road repairs are sometimes paid for but never done. Auditors found signs of collusion in 200 road-testing tenders in Karakalpakstan.</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auditor checks repairs before paying a contractor</a:t>
            </a:r>
          </a:p>
          <a:p>
            <a:pPr>
              <a:lnSpc>
                <a:spcPct val="140000"/>
              </a:lnSpc>
              <a:spcBef>
                <a:spcPts val="0"/>
              </a:spcBef>
              <a:spcAft>
                <a:spcPts val="800"/>
              </a:spcAft>
            </a:pPr>
            <a:r>
              <a:rPr sz="1350" b="0">
                <a:solidFill>
                  <a:srgbClr val="4A4741"/>
                </a:solidFill>
                <a:latin typeface="Helvetica Neue"/>
              </a:rPr>
              <a:t>–  An anti-corruption body tracks road spending</a:t>
            </a:r>
          </a:p>
          <a:p>
            <a:pPr>
              <a:lnSpc>
                <a:spcPct val="140000"/>
              </a:lnSpc>
              <a:spcBef>
                <a:spcPts val="0"/>
              </a:spcBef>
              <a:spcAft>
                <a:spcPts val="800"/>
              </a:spcAft>
            </a:pPr>
            <a:r>
              <a:rPr sz="1350" b="0">
                <a:solidFill>
                  <a:srgbClr val="4A4741"/>
                </a:solidFill>
                <a:latin typeface="Helvetica Neue"/>
              </a:rPr>
              <a:t>–  A city verifies its repair map</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Audit and anti-corruption bodies.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[153][168][169]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140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68 / 91 · CITY HALL</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StopCount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Independently checks whether "green-wave" traffic lights really cut stops.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Cameras or dashcam runs along a corridor record traffic. StopCount measures how many cars arrive on green, how often they stop and how long trips take, before and after a signal change.</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Cities announce big gains from smarter traffic lights without showing a method. One avenue claimed 29% less travel time with no evidence.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City leaders verify a contractor's claims</a:t>
            </a:r>
          </a:p>
          <a:p>
            <a:pPr>
              <a:lnSpc>
                <a:spcPct val="140000"/>
              </a:lnSpc>
              <a:spcBef>
                <a:spcPts val="0"/>
              </a:spcBef>
              <a:spcAft>
                <a:spcPts val="800"/>
              </a:spcAft>
            </a:pPr>
            <a:r>
              <a:rPr sz="1350" b="0">
                <a:solidFill>
                  <a:srgbClr val="4A4741"/>
                </a:solidFill>
                <a:latin typeface="Helvetica Neue"/>
              </a:rPr>
              <a:t>–  A lender checks a funded project's results</a:t>
            </a:r>
          </a:p>
          <a:p>
            <a:pPr>
              <a:lnSpc>
                <a:spcPct val="140000"/>
              </a:lnSpc>
              <a:spcBef>
                <a:spcPts val="0"/>
              </a:spcBef>
              <a:spcAft>
                <a:spcPts val="800"/>
              </a:spcAft>
            </a:pPr>
            <a:r>
              <a:rPr sz="1350" b="0">
                <a:solidFill>
                  <a:srgbClr val="4A4741"/>
                </a:solidFill>
                <a:latin typeface="Helvetica Neue"/>
              </a:rPr>
              <a:t>–  Engineers tune signals with real data</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City hall, and lenders' verification agents.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[170][171]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142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69 / 91 · SIGNAL-TIMING PROGRAMMES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FineFirewall</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whether a traffic light's yellow is long enough, before drivers are fined.</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video of the junction is enough. FineFirewall measures the yellow light's duration, how fast cars approach, and how many drivers are caught in the zone where they can neither stop nor pass safely.</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A yellow just one second longer cut violations by 36% in one study. Fines from a short yellow are unfair and don't improve safety.</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city fixes signals that trap drivers</a:t>
            </a:r>
          </a:p>
          <a:p>
            <a:pPr>
              <a:lnSpc>
                <a:spcPct val="140000"/>
              </a:lnSpc>
              <a:spcBef>
                <a:spcPts val="0"/>
              </a:spcBef>
              <a:spcAft>
                <a:spcPts val="800"/>
              </a:spcAft>
            </a:pPr>
            <a:r>
              <a:rPr sz="1350" b="0">
                <a:solidFill>
                  <a:srgbClr val="4A4741"/>
                </a:solidFill>
                <a:latin typeface="Helvetica Neue"/>
              </a:rPr>
              <a:t>–  A fleet challenges unfair fines</a:t>
            </a:r>
          </a:p>
          <a:p>
            <a:pPr>
              <a:lnSpc>
                <a:spcPct val="140000"/>
              </a:lnSpc>
              <a:spcBef>
                <a:spcPts val="0"/>
              </a:spcBef>
              <a:spcAft>
                <a:spcPts val="800"/>
              </a:spcAft>
            </a:pPr>
            <a:r>
              <a:rPr sz="1350" b="0">
                <a:solidFill>
                  <a:srgbClr val="4A4741"/>
                </a:solidFill>
                <a:latin typeface="Helvetica Neue"/>
              </a:rPr>
              <a:t>–  A signal programme proves its timing is fair</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Signal-timing programmes and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[187][188][189]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144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70 / 91 · EMERGENCY SERVICES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BumpRegistry</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Maps speed bumps and flags ones that are illegal or dangerous.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As vehicles drive, dashcams and phones record every speed bump: where it is, its spacing, signs, markings and lighting, plus a rough height from the phone's motion sensor. BumpRegistry builds a map and a list of bumps to fix or remove.</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Homemade bumps damage cars and slow ambulances; one 426 m street in Bukhara has 10 bumps. No one keeps a full register.</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Ambulances get routes with fewer bumps</a:t>
            </a:r>
          </a:p>
          <a:p>
            <a:pPr>
              <a:lnSpc>
                <a:spcPct val="140000"/>
              </a:lnSpc>
              <a:spcBef>
                <a:spcPts val="0"/>
              </a:spcBef>
              <a:spcAft>
                <a:spcPts val="800"/>
              </a:spcAft>
            </a:pPr>
            <a:r>
              <a:rPr sz="1350" b="0">
                <a:solidFill>
                  <a:srgbClr val="4A4741"/>
                </a:solidFill>
                <a:latin typeface="Helvetica Neue"/>
              </a:rPr>
              <a:t>–  A district removes illegal bumps</a:t>
            </a:r>
          </a:p>
          <a:p>
            <a:pPr>
              <a:lnSpc>
                <a:spcPct val="140000"/>
              </a:lnSpc>
              <a:spcBef>
                <a:spcPts val="0"/>
              </a:spcBef>
              <a:spcAft>
                <a:spcPts val="800"/>
              </a:spcAft>
            </a:pPr>
            <a:r>
              <a:rPr sz="1350" b="0">
                <a:solidFill>
                  <a:srgbClr val="4A4741"/>
                </a:solidFill>
                <a:latin typeface="Helvetica Neue"/>
              </a:rPr>
              <a:t>–  Taxi fleets avoid damaging streets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Emergency services or a district; taxi fleets for routing.</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[183][184]</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146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71 / 91 · HOUSING ASSOCIATIONS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Lane Clear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whether a fire truck can get through a courtyard full of parked cars.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Someone walks through the courtyard filming with a phone. Lane Clear builds a 3D map, finds the narrow spots under 3.5 m, and shows which parked cars or bays block a fire truck.</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In apartment courtyards, parked cars often block the way for fire trucks and ambulances. In a fire, minutes lost can cost lives.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housing association decides where to ban parking</a:t>
            </a:r>
          </a:p>
          <a:p>
            <a:pPr>
              <a:lnSpc>
                <a:spcPct val="140000"/>
              </a:lnSpc>
              <a:spcBef>
                <a:spcPts val="0"/>
              </a:spcBef>
              <a:spcAft>
                <a:spcPts val="800"/>
              </a:spcAft>
            </a:pPr>
            <a:r>
              <a:rPr sz="1350" b="0">
                <a:solidFill>
                  <a:srgbClr val="4A4741"/>
                </a:solidFill>
                <a:latin typeface="Helvetica Neue"/>
              </a:rPr>
              <a:t>–  The fire service audits courtyards</a:t>
            </a:r>
          </a:p>
          <a:p>
            <a:pPr>
              <a:lnSpc>
                <a:spcPct val="140000"/>
              </a:lnSpc>
              <a:spcBef>
                <a:spcPts val="0"/>
              </a:spcBef>
              <a:spcAft>
                <a:spcPts val="800"/>
              </a:spcAft>
            </a:pPr>
            <a:r>
              <a:rPr sz="1350" b="0">
                <a:solidFill>
                  <a:srgbClr val="4A4741"/>
                </a:solidFill>
                <a:latin typeface="Helvetica Neue"/>
              </a:rPr>
              <a:t>–  Residents show the problem with real numbers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Housing associations, mahalla committees and the fire service.</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[137][138][139]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148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72 / 91 · DETAILING STUDIOS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Bead-Check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Measures how well a car's protective coating still repels water.</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water drop is placed on the paint and filmed from the side. Bead-Check measures the drop's angle: a high angle means the coating still works. Repeat checks show when the car needs re-coating.</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Detailers sell expensive ceramic coatings but can't prove how they last. A lab device costs $4,990; this uses a phone.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detailer gives customers a coating certificate</a:t>
            </a:r>
          </a:p>
          <a:p>
            <a:pPr>
              <a:lnSpc>
                <a:spcPct val="140000"/>
              </a:lnSpc>
              <a:spcBef>
                <a:spcPts val="0"/>
              </a:spcBef>
              <a:spcAft>
                <a:spcPts val="800"/>
              </a:spcAft>
            </a:pPr>
            <a:r>
              <a:rPr sz="1350" b="0">
                <a:solidFill>
                  <a:srgbClr val="4A4741"/>
                </a:solidFill>
                <a:latin typeface="Helvetica Neue"/>
              </a:rPr>
              <a:t>–  A studio reminds customers when to re-coat</a:t>
            </a:r>
          </a:p>
          <a:p>
            <a:pPr>
              <a:lnSpc>
                <a:spcPct val="140000"/>
              </a:lnSpc>
              <a:spcBef>
                <a:spcPts val="0"/>
              </a:spcBef>
              <a:spcAft>
                <a:spcPts val="800"/>
              </a:spcAft>
            </a:pPr>
            <a:r>
              <a:rPr sz="1350" b="0">
                <a:solidFill>
                  <a:srgbClr val="4A4741"/>
                </a:solidFill>
                <a:latin typeface="Helvetica Neue"/>
              </a:rPr>
              <a:t>–  A dealer backs a paint-protection warranty</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Detailing studios and dealers' paint programmes.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[70][71]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150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73 / 91 · PDR &amp; INSPECTORS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Dent-Lines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small dents and repainted areas using light stripes from a laptop screen.</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laptop shows black-and-white stripes that reflect in the car's glossy paint. Where the panel is dented or filled, the stripes bend. Dent-Lines measures the bending and maps the problem area.</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Small dents and filler hide past damage, and dent-repair technicians quote by eye. A phone and laptop replace expensive scanning tunnels.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buyer finds hidden filler in a door</a:t>
            </a:r>
          </a:p>
          <a:p>
            <a:pPr>
              <a:lnSpc>
                <a:spcPct val="140000"/>
              </a:lnSpc>
              <a:spcBef>
                <a:spcPts val="0"/>
              </a:spcBef>
              <a:spcAft>
                <a:spcPts val="800"/>
              </a:spcAft>
            </a:pPr>
            <a:r>
              <a:rPr sz="1350" b="0">
                <a:solidFill>
                  <a:srgbClr val="4A4741"/>
                </a:solidFill>
                <a:latin typeface="Helvetica Neue"/>
              </a:rPr>
              <a:t>–  A dent technician quotes accurately</a:t>
            </a:r>
          </a:p>
          <a:p>
            <a:pPr>
              <a:lnSpc>
                <a:spcPct val="140000"/>
              </a:lnSpc>
              <a:spcBef>
                <a:spcPts val="0"/>
              </a:spcBef>
              <a:spcAft>
                <a:spcPts val="800"/>
              </a:spcAft>
            </a:pPr>
            <a:r>
              <a:rPr sz="1350" b="0">
                <a:solidFill>
                  <a:srgbClr val="4A4741"/>
                </a:solidFill>
                <a:latin typeface="Helvetica Neue"/>
              </a:rPr>
              <a:t>–  An inspector documents panel condition</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Car inspectors and paintless-dent-repair technicians.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[86][87]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152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74 / 91 · TAXI PARKS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WearMap</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Tracks tyre wear on taxi cars every month to catch alignment problems.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Each month the depot photographs all four tyres of each car with a coin for scale. WearMap measures how each tyre wears and flags uneven wear that means the wheels need alignment.</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Bad alignment eats tyres fast. Tyre apps already exist, so the fleet-level history is what is new; this is a low-priority idea.</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taxi park schedules alignment only when needed</a:t>
            </a:r>
          </a:p>
          <a:p>
            <a:pPr>
              <a:lnSpc>
                <a:spcPct val="140000"/>
              </a:lnSpc>
              <a:spcBef>
                <a:spcPts val="0"/>
              </a:spcBef>
              <a:spcAft>
                <a:spcPts val="800"/>
              </a:spcAft>
            </a:pPr>
            <a:r>
              <a:rPr sz="1350" b="0">
                <a:solidFill>
                  <a:srgbClr val="4A4741"/>
                </a:solidFill>
                <a:latin typeface="Helvetica Neue"/>
              </a:rPr>
              <a:t>–  A fleet cuts tyre spending</a:t>
            </a:r>
          </a:p>
          <a:p>
            <a:pPr>
              <a:lnSpc>
                <a:spcPct val="140000"/>
              </a:lnSpc>
              <a:spcBef>
                <a:spcPts val="0"/>
              </a:spcBef>
              <a:spcAft>
                <a:spcPts val="800"/>
              </a:spcAft>
            </a:pPr>
            <a:r>
              <a:rPr sz="1350" b="0">
                <a:solidFill>
                  <a:srgbClr val="4A4741"/>
                </a:solidFill>
                <a:latin typeface="Helvetica Neue"/>
              </a:rPr>
              <a:t>–  An alignment shop gets regular customers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Taxi parks and alignment shops.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[88][89]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154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75 / 91 · RESTORATION SHOPS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BeamAim</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if headlights are cloudy or aimed wrong, from a photo of their beam on a wall.</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Park facing a wall and switch on the lights. BeamAim checks if the beam's cut-off line is too high or too low, and grades how cloudy the lenses are, suggesting adjustment or restoration.</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Headlights aimed too high blind oncoming drivers; one study found 75% of vehicles mis-aimed. Cloudy lenses make night driving darker.</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restoration shop shows customers the problem</a:t>
            </a:r>
          </a:p>
          <a:p>
            <a:pPr>
              <a:lnSpc>
                <a:spcPct val="140000"/>
              </a:lnSpc>
              <a:spcBef>
                <a:spcPts val="0"/>
              </a:spcBef>
              <a:spcAft>
                <a:spcPts val="800"/>
              </a:spcAft>
            </a:pPr>
            <a:r>
              <a:rPr sz="1350" b="0">
                <a:solidFill>
                  <a:srgbClr val="4A4741"/>
                </a:solidFill>
                <a:latin typeface="Helvetica Neue"/>
              </a:rPr>
              <a:t>–  A tyre shop adds a quick light check</a:t>
            </a:r>
          </a:p>
          <a:p>
            <a:pPr>
              <a:lnSpc>
                <a:spcPct val="140000"/>
              </a:lnSpc>
              <a:spcBef>
                <a:spcPts val="0"/>
              </a:spcBef>
              <a:spcAft>
                <a:spcPts val="800"/>
              </a:spcAft>
            </a:pPr>
            <a:r>
              <a:rPr sz="1350" b="0">
                <a:solidFill>
                  <a:srgbClr val="4A4741"/>
                </a:solidFill>
                <a:latin typeface="Helvetica Neue"/>
              </a:rPr>
              <a:t>–  A driver checks lights before a trip</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Headlight restoration and tyre shops.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[90][91]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156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76 / 91 · CNG-CONVERSION SHOPS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PlugLens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Reads a used spark plug's condition from a close-up photo.</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mechanic photographs a removed spark plug. PlugLens measures the gap, classifies the deposits that show how the engine runs, and prints a job card with a re-order button.</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Gas-converted engines wear plugs differently than petrol ones, but mechanics read plugs by eye. This is a low-priority idea.</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conversion shop documents engine health</a:t>
            </a:r>
          </a:p>
          <a:p>
            <a:pPr>
              <a:lnSpc>
                <a:spcPct val="140000"/>
              </a:lnSpc>
              <a:spcBef>
                <a:spcPts val="0"/>
              </a:spcBef>
              <a:spcAft>
                <a:spcPts val="800"/>
              </a:spcAft>
            </a:pPr>
            <a:r>
              <a:rPr sz="1350" b="0">
                <a:solidFill>
                  <a:srgbClr val="4A4741"/>
                </a:solidFill>
                <a:latin typeface="Helvetica Neue"/>
              </a:rPr>
              <a:t>–  A mechanic orders the right plugs</a:t>
            </a:r>
          </a:p>
          <a:p>
            <a:pPr>
              <a:lnSpc>
                <a:spcPct val="140000"/>
              </a:lnSpc>
              <a:spcBef>
                <a:spcPts val="0"/>
              </a:spcBef>
              <a:spcAft>
                <a:spcPts val="800"/>
              </a:spcAft>
            </a:pPr>
            <a:r>
              <a:rPr sz="1350" b="0">
                <a:solidFill>
                  <a:srgbClr val="4A4741"/>
                </a:solidFill>
                <a:latin typeface="Helvetica Neue"/>
              </a:rPr>
              <a:t>–  A fleet tracks plug wear on gas cars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Gas-conversion shops and independent mechanics.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[82][83]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158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77 / 91 · PASSENGER CARRIERS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KitCheck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a vehicle's safety kit: fire extinguisher, first-aid kit and warning triangle.</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driver photographs the kit. KitCheck finds each item, reads the extinguisher's pressure gauge and the expiry dates, and sends Telegram reminders before anything expires.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Expired extinguishers fail when needed, and passenger carriers are inspected. Reading expiry dates automatically is the hard, useful part.</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bus company keeps every vehicle's kit valid</a:t>
            </a:r>
          </a:p>
          <a:p>
            <a:pPr>
              <a:lnSpc>
                <a:spcPct val="140000"/>
              </a:lnSpc>
              <a:spcBef>
                <a:spcPts val="0"/>
              </a:spcBef>
              <a:spcAft>
                <a:spcPts val="800"/>
              </a:spcAft>
            </a:pPr>
            <a:r>
              <a:rPr sz="1350" b="0">
                <a:solidFill>
                  <a:srgbClr val="4A4741"/>
                </a:solidFill>
                <a:latin typeface="Helvetica Neue"/>
              </a:rPr>
              <a:t>–  A driver gets a reminder before inspection</a:t>
            </a:r>
          </a:p>
          <a:p>
            <a:pPr>
              <a:lnSpc>
                <a:spcPct val="140000"/>
              </a:lnSpc>
              <a:spcBef>
                <a:spcPts val="0"/>
              </a:spcBef>
              <a:spcAft>
                <a:spcPts val="800"/>
              </a:spcAft>
            </a:pPr>
            <a:r>
              <a:rPr sz="1350" b="0">
                <a:solidFill>
                  <a:srgbClr val="4A4741"/>
                </a:solidFill>
                <a:latin typeface="Helvetica Neue"/>
              </a:rPr>
              <a:t>–  A fleet manager sees kit status at a glance</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Passenger carriers, bundled with ShiftGate.</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[131][132]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160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78 / 91 · NIGHT-SHIFT EMPLOYERS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Seen-at-Night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Tests whether workers' high-visibility clothing still reflects light.</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Take two photos of the vest or jacket, with and without flash. Seen-at-Night compares how strongly the reflective stripes shine against a reference swatch, and flags clothing that is worn out after many washes.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Washed-out hi-vis looks fine by day but disappears in headlights. In one study, vests without good stripes were no better than black clothing.</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road crew checks its vests every month</a:t>
            </a:r>
          </a:p>
          <a:p>
            <a:pPr>
              <a:lnSpc>
                <a:spcPct val="140000"/>
              </a:lnSpc>
              <a:spcBef>
                <a:spcPts val="0"/>
              </a:spcBef>
              <a:spcAft>
                <a:spcPts val="800"/>
              </a:spcAft>
            </a:pPr>
            <a:r>
              <a:rPr sz="1350" b="0">
                <a:solidFill>
                  <a:srgbClr val="4A4741"/>
                </a:solidFill>
                <a:latin typeface="Helvetica Neue"/>
              </a:rPr>
              <a:t>–  A courier company replaces worn jackets</a:t>
            </a:r>
          </a:p>
          <a:p>
            <a:pPr>
              <a:lnSpc>
                <a:spcPct val="140000"/>
              </a:lnSpc>
              <a:spcBef>
                <a:spcPts val="0"/>
              </a:spcBef>
              <a:spcAft>
                <a:spcPts val="800"/>
              </a:spcAft>
            </a:pPr>
            <a:r>
              <a:rPr sz="1350" b="0">
                <a:solidFill>
                  <a:srgbClr val="4A4741"/>
                </a:solidFill>
                <a:latin typeface="Helvetica Neue"/>
              </a:rPr>
              <a:t>–  A cleaning contractor proves workers are visible</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Employers of night-shift road workers, cleaners and couriers.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[129][130]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162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79 / 91 · DELIVERY PLATFORMS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RideCoach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Coaches couriers on safe riding using their own phone's camera.</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With the phone on the handlebar, RideCoach checks lights and plate at shift start, then watches for red lights and stop lines during the ride. Couriers get a weekly score and bonuses for safe riding.</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Most courier fines are for lights, reflectors and passengers, and red-light running causes crashes. Other systems need extra hardware.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delivery platform rewards safe couriers</a:t>
            </a:r>
          </a:p>
          <a:p>
            <a:pPr>
              <a:lnSpc>
                <a:spcPct val="140000"/>
              </a:lnSpc>
              <a:spcBef>
                <a:spcPts val="0"/>
              </a:spcBef>
              <a:spcAft>
                <a:spcPts val="800"/>
              </a:spcAft>
            </a:pPr>
            <a:r>
              <a:rPr sz="1350" b="0">
                <a:solidFill>
                  <a:srgbClr val="4A4741"/>
                </a:solidFill>
                <a:latin typeface="Helvetica Neue"/>
              </a:rPr>
              <a:t>–  A courier learns their risky habits</a:t>
            </a:r>
          </a:p>
          <a:p>
            <a:pPr>
              <a:lnSpc>
                <a:spcPct val="140000"/>
              </a:lnSpc>
              <a:spcBef>
                <a:spcPts val="0"/>
              </a:spcBef>
              <a:spcAft>
                <a:spcPts val="800"/>
              </a:spcAft>
            </a:pPr>
            <a:r>
              <a:rPr sz="1350" b="0">
                <a:solidFill>
                  <a:srgbClr val="4A4741"/>
                </a:solidFill>
                <a:latin typeface="Helvetica Neue"/>
              </a:rPr>
              <a:t>–  A platform cuts fines and crashes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Delivery platforms.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[16][120]</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164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80 / 91 · BATTERY RETAILERS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No-Start Doctor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Tests a car battery with a phone video of the headlights during engine start.</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Switch on the headlights and film them while starting the engine. As the battery strains, the lights dim; No-Start Doctor measures the dimming, estimates the battery voltage and warns if it will fail in winter.</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Weak batteries leave drivers stranded on cold mornings. Testers need hardware; this needs only a phone. It doesn't work with LED headlights.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battery shop finds customers who need a new battery</a:t>
            </a:r>
          </a:p>
          <a:p>
            <a:pPr>
              <a:lnSpc>
                <a:spcPct val="140000"/>
              </a:lnSpc>
              <a:spcBef>
                <a:spcPts val="0"/>
              </a:spcBef>
              <a:spcAft>
                <a:spcPts val="800"/>
              </a:spcAft>
            </a:pPr>
            <a:r>
              <a:rPr sz="1350" b="0">
                <a:solidFill>
                  <a:srgbClr val="4A4741"/>
                </a:solidFill>
                <a:latin typeface="Helvetica Neue"/>
              </a:rPr>
              <a:t>–  A taxi park checks batteries before winter</a:t>
            </a:r>
          </a:p>
          <a:p>
            <a:pPr>
              <a:lnSpc>
                <a:spcPct val="140000"/>
              </a:lnSpc>
              <a:spcBef>
                <a:spcPts val="0"/>
              </a:spcBef>
              <a:spcAft>
                <a:spcPts val="800"/>
              </a:spcAft>
            </a:pPr>
            <a:r>
              <a:rPr sz="1350" b="0">
                <a:solidFill>
                  <a:srgbClr val="4A4741"/>
                </a:solidFill>
                <a:latin typeface="Helvetica Neue"/>
              </a:rPr>
              <a:t>–  A driver avoids a no-start morning</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Battery retailers and taxi parks.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[105][106][107]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166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81 / 91 · CORRIDOR TRUCKING</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CouplingCheck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that a truck and its trailer are coupled correctly before departure.</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driver films the coupling area from the side for 10 seconds. CouplingCheck confirms the air hoses and electric plug are connected, the support legs are up and the latch is closed, and saves a signed log.</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A badly coupled trailer can detach on the road and cause a deadly crash. Today checks rely on memory or costly sensors.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trucking company logs every departure check</a:t>
            </a:r>
          </a:p>
          <a:p>
            <a:pPr>
              <a:lnSpc>
                <a:spcPct val="140000"/>
              </a:lnSpc>
              <a:spcBef>
                <a:spcPts val="0"/>
              </a:spcBef>
              <a:spcAft>
                <a:spcPts val="800"/>
              </a:spcAft>
            </a:pPr>
            <a:r>
              <a:rPr sz="1350" b="0">
                <a:solidFill>
                  <a:srgbClr val="4A4741"/>
                </a:solidFill>
                <a:latin typeface="Helvetica Neue"/>
              </a:rPr>
              <a:t>–  A cargo insurer requires proof</a:t>
            </a:r>
          </a:p>
          <a:p>
            <a:pPr>
              <a:lnSpc>
                <a:spcPct val="140000"/>
              </a:lnSpc>
              <a:spcBef>
                <a:spcPts val="0"/>
              </a:spcBef>
              <a:spcAft>
                <a:spcPts val="800"/>
              </a:spcAft>
            </a:pPr>
            <a:r>
              <a:rPr sz="1350" b="0">
                <a:solidFill>
                  <a:srgbClr val="4A4741"/>
                </a:solidFill>
                <a:latin typeface="Helvetica Neue"/>
              </a:rPr>
              <a:t>–  A driver catches a missed connection</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Cargo insurers and freight companies on the China-Uzbekistan corridor.</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[135][136]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168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82 / 91 · PARKING OPERATORS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ShadeRent</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Maps which parking spots stay in the shade, and for how long.</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phone fixed above a parking lot takes a photo every 15-30 minutes. ShadeRent marks shaded bays and calculates shade hours per spot, showing where to build canopies, solar carports or chargers.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In hot Uzbek summers, shaded spots are worth more and cars stay cooler. The airport lot alone holds about 1,500 vehicles.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parking operator charges more for shaded bays</a:t>
            </a:r>
          </a:p>
          <a:p>
            <a:pPr>
              <a:lnSpc>
                <a:spcPct val="140000"/>
              </a:lnSpc>
              <a:spcBef>
                <a:spcPts val="0"/>
              </a:spcBef>
              <a:spcAft>
                <a:spcPts val="800"/>
              </a:spcAft>
            </a:pPr>
            <a:r>
              <a:rPr sz="1350" b="0">
                <a:solidFill>
                  <a:srgbClr val="4A4741"/>
                </a:solidFill>
                <a:latin typeface="Helvetica Neue"/>
              </a:rPr>
              <a:t>–  An installer plans solar carports</a:t>
            </a:r>
          </a:p>
          <a:p>
            <a:pPr>
              <a:lnSpc>
                <a:spcPct val="140000"/>
              </a:lnSpc>
              <a:spcBef>
                <a:spcPts val="0"/>
              </a:spcBef>
              <a:spcAft>
                <a:spcPts val="800"/>
              </a:spcAft>
            </a:pPr>
            <a:r>
              <a:rPr sz="1350" b="0">
                <a:solidFill>
                  <a:srgbClr val="4A4741"/>
                </a:solidFill>
                <a:latin typeface="Helvetica Neue"/>
              </a:rPr>
              <a:t>–  A mall decides where to add shade</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Parking operators and canopy or solar installers.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[190][191]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170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83 / 91 · COURIER &amp; TAXI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ParkOK</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a driver whether stopping here is legal, from one photo of the street.</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driver photographs the kerb ahead. ParkOK reads the signs, markings and paid-parking zone and time windows, and answers green, amber or red, quoting the rule and the fine.</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Stopping where it is banned costs 880,000 UZS. Courier and taxi drivers stop dozens of times a day and can't read every sign.</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courier checks a stop before parking</a:t>
            </a:r>
          </a:p>
          <a:p>
            <a:pPr>
              <a:lnSpc>
                <a:spcPct val="140000"/>
              </a:lnSpc>
              <a:spcBef>
                <a:spcPts val="0"/>
              </a:spcBef>
              <a:spcAft>
                <a:spcPts val="800"/>
              </a:spcAft>
            </a:pPr>
            <a:r>
              <a:rPr sz="1350" b="0">
                <a:solidFill>
                  <a:srgbClr val="4A4741"/>
                </a:solidFill>
                <a:latin typeface="Helvetica Neue"/>
              </a:rPr>
              <a:t>–  A fleet cuts its parking fines</a:t>
            </a:r>
          </a:p>
          <a:p>
            <a:pPr>
              <a:lnSpc>
                <a:spcPct val="140000"/>
              </a:lnSpc>
              <a:spcBef>
                <a:spcPts val="0"/>
              </a:spcBef>
              <a:spcAft>
                <a:spcPts val="800"/>
              </a:spcAft>
            </a:pPr>
            <a:r>
              <a:rPr sz="1350" b="0">
                <a:solidFill>
                  <a:srgbClr val="4A4741"/>
                </a:solidFill>
                <a:latin typeface="Helvetica Neue"/>
              </a:rPr>
              <a:t>–  A parking operator licenses the rules data</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Courier and taxi fleets.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[101][185][186]</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172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84 / 91 · CHARGER DISTRIBUTORS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Joylash</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Shows a building owner where EV chargers would earn money, from their own cameras.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Joylash watches the venue's parking camera, measures how long cars stay in each bay and how many are electric, and calculates how fast a charger in each spot would pay for itself.</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Owners don't know if a charger will pay off, so they don't install one. Banks already offer 10% loans for chargers.</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mall picks the best bays for chargers</a:t>
            </a:r>
          </a:p>
          <a:p>
            <a:pPr>
              <a:lnSpc>
                <a:spcPct val="140000"/>
              </a:lnSpc>
              <a:spcBef>
                <a:spcPts val="0"/>
              </a:spcBef>
              <a:spcAft>
                <a:spcPts val="800"/>
              </a:spcAft>
            </a:pPr>
            <a:r>
              <a:rPr sz="1350" b="0">
                <a:solidFill>
                  <a:srgbClr val="4A4741"/>
                </a:solidFill>
                <a:latin typeface="Helvetica Neue"/>
              </a:rPr>
              <a:t>–  A charger seller qualifies leads</a:t>
            </a:r>
          </a:p>
          <a:p>
            <a:pPr>
              <a:lnSpc>
                <a:spcPct val="140000"/>
              </a:lnSpc>
              <a:spcBef>
                <a:spcPts val="0"/>
              </a:spcBef>
              <a:spcAft>
                <a:spcPts val="800"/>
              </a:spcAft>
            </a:pPr>
            <a:r>
              <a:rPr sz="1350" b="0">
                <a:solidFill>
                  <a:srgbClr val="4A4741"/>
                </a:solidFill>
                <a:latin typeface="Helvetica Neue"/>
              </a:rPr>
              <a:t>–  A hotel builds a business case for charging</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Charger sellers and installers (success fee).</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[177][178][179]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174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85 / 91 · DEALER &amp; IMPORT YARDS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Yard Tetris</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Finds any car in a crowded dealer yard and plans the fewest moves to get it out.</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 camera on the roof photographs the yard every few minutes. Yard Tetris knows where each car is, how long it has stood there and which cars block it, and plans the shortest sequence of moves to free it.</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In big yards, staff waste time searching for cars and shuffling others out of the way, and stock stands longer when sales slow.</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dealer finds a customer's car in seconds</a:t>
            </a:r>
          </a:p>
          <a:p>
            <a:pPr>
              <a:lnSpc>
                <a:spcPct val="140000"/>
              </a:lnSpc>
              <a:spcBef>
                <a:spcPts val="0"/>
              </a:spcBef>
              <a:spcAft>
                <a:spcPts val="800"/>
              </a:spcAft>
            </a:pPr>
            <a:r>
              <a:rPr sz="1350" b="0">
                <a:solidFill>
                  <a:srgbClr val="4A4741"/>
                </a:solidFill>
                <a:latin typeface="Helvetica Neue"/>
              </a:rPr>
              <a:t>–  A yard manager sees old stock</a:t>
            </a:r>
          </a:p>
          <a:p>
            <a:pPr>
              <a:lnSpc>
                <a:spcPct val="140000"/>
              </a:lnSpc>
              <a:spcBef>
                <a:spcPts val="0"/>
              </a:spcBef>
              <a:spcAft>
                <a:spcPts val="800"/>
              </a:spcAft>
            </a:pPr>
            <a:r>
              <a:rPr sz="1350" b="0">
                <a:solidFill>
                  <a:srgbClr val="4A4741"/>
                </a:solidFill>
                <a:latin typeface="Helvetica Neue"/>
              </a:rPr>
              <a:t>–  Staff move fewer cars per delivery</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Car dealers and import yards.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[50][121]</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176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86 / 91 · INTERCITY FLEETS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DarkRoad</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Warns night drivers about carts, tractors and animals on rural roads.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Fleet dashcams record rural routes during the day and at dusk. DarkRoad finds slow carts, tractors and livestock on the roadside, maps where they usually are, and warns drivers on night trips through those spots.</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Unlit slow vehicles and animals cause deadly night crashes. Some regions ban heavy trucks by day, pushing them into night driving.</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intercity bus company warns drivers</a:t>
            </a:r>
          </a:p>
          <a:p>
            <a:pPr>
              <a:lnSpc>
                <a:spcPct val="140000"/>
              </a:lnSpc>
              <a:spcBef>
                <a:spcPts val="0"/>
              </a:spcBef>
              <a:spcAft>
                <a:spcPts val="800"/>
              </a:spcAft>
            </a:pPr>
            <a:r>
              <a:rPr sz="1350" b="0">
                <a:solidFill>
                  <a:srgbClr val="4A4741"/>
                </a:solidFill>
                <a:latin typeface="Helvetica Neue"/>
              </a:rPr>
              <a:t>–  A trucking firm plans safer night routes</a:t>
            </a:r>
          </a:p>
          <a:p>
            <a:pPr>
              <a:lnSpc>
                <a:spcPct val="140000"/>
              </a:lnSpc>
              <a:spcBef>
                <a:spcPts val="0"/>
              </a:spcBef>
              <a:spcAft>
                <a:spcPts val="800"/>
              </a:spcAft>
            </a:pPr>
            <a:r>
              <a:rPr sz="1350" b="0">
                <a:solidFill>
                  <a:srgbClr val="4A4741"/>
                </a:solidFill>
                <a:latin typeface="Helvetica Neue"/>
              </a:rPr>
              <a:t>–  An insurer prices route risk</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Intercity bus and trucking fleets; insurers buy risk reports.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[118][119]</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178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87 / 91 · QUARRIES &amp; DEVELOPERS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LoadGate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Checks a truck's load size and cover at the site exit before it hits the road.</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At the quarry or building site exit, two photos are taken from the side and back. LoadGate measures how far the load sticks out and how high it is, compares that with the legal limit, and checks the load is covered.</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Overhanging and uncovered loads cause crashes and dust. The exact Uzbek overhang limit still needs to be confirmed before use.</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quarry sends out only legal loads</a:t>
            </a:r>
          </a:p>
          <a:p>
            <a:pPr>
              <a:lnSpc>
                <a:spcPct val="140000"/>
              </a:lnSpc>
              <a:spcBef>
                <a:spcPts val="0"/>
              </a:spcBef>
              <a:spcAft>
                <a:spcPts val="800"/>
              </a:spcAft>
            </a:pPr>
            <a:r>
              <a:rPr sz="1350" b="0">
                <a:solidFill>
                  <a:srgbClr val="4A4741"/>
                </a:solidFill>
                <a:latin typeface="Helvetica Neue"/>
              </a:rPr>
              <a:t>–  A developer keeps proof for smog inspectors</a:t>
            </a:r>
          </a:p>
          <a:p>
            <a:pPr>
              <a:lnSpc>
                <a:spcPct val="140000"/>
              </a:lnSpc>
              <a:spcBef>
                <a:spcPts val="0"/>
              </a:spcBef>
              <a:spcAft>
                <a:spcPts val="800"/>
              </a:spcAft>
            </a:pPr>
            <a:r>
              <a:rPr sz="1350" b="0">
                <a:solidFill>
                  <a:srgbClr val="4A4741"/>
                </a:solidFill>
                <a:latin typeface="Helvetica Neue"/>
              </a:rPr>
              <a:t>–  A haulier avoids fines</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Quarries and construction developers.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[112]</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180</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1.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88 / 91 · INSPECTORS &amp; DEALERS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WeldTell</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Tells factory welds from repair welds in photos, to reveal hidden body repairs.</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The inspector photographs one standard spot, such as the door frame. WeldTell compares the welds and sealant with factory-original examples of the same model and highlights areas that look like repair work for a person to check.</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Structural repairs after a serious crash are often hidden, and they make a car less safe. Only experts can spot them today.</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inspector checks the door frame for repair welds</a:t>
            </a:r>
          </a:p>
          <a:p>
            <a:pPr>
              <a:lnSpc>
                <a:spcPct val="140000"/>
              </a:lnSpc>
              <a:spcBef>
                <a:spcPts val="0"/>
              </a:spcBef>
              <a:spcAft>
                <a:spcPts val="800"/>
              </a:spcAft>
            </a:pPr>
            <a:r>
              <a:rPr sz="1350" b="0">
                <a:solidFill>
                  <a:srgbClr val="4A4741"/>
                </a:solidFill>
                <a:latin typeface="Helvetica Neue"/>
              </a:rPr>
              <a:t>–  A dealer screens trade-ins for major crashes</a:t>
            </a:r>
          </a:p>
          <a:p>
            <a:pPr>
              <a:lnSpc>
                <a:spcPct val="140000"/>
              </a:lnSpc>
              <a:spcBef>
                <a:spcPts val="0"/>
              </a:spcBef>
              <a:spcAft>
                <a:spcPts val="800"/>
              </a:spcAft>
            </a:pPr>
            <a:r>
              <a:rPr sz="1350" b="0">
                <a:solidFill>
                  <a:srgbClr val="4A4741"/>
                </a:solidFill>
                <a:latin typeface="Helvetica Neue"/>
              </a:rPr>
              <a:t>–  A buyer avoids a rebuilt car</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Car inspectors and dealers.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[52][53]</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182</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3.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89 / 91 · DEALERS &amp; TRADE-IN</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DateCode Detective</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Reads the date stamps on glass, belts and tyres to show which parts were replaced.</a:t>
            </a:r>
          </a:p>
        </p:txBody>
      </p:sp>
      <p:sp>
        <p:nvSpPr>
          <p:cNvPr id="5" name="Rectangle 4"/>
          <p:cNvSpPr/>
          <p:nvPr/>
        </p:nvSpPr>
        <p:spPr>
          <a:xfrm>
            <a:off x="7042386" y="2343144"/>
            <a:ext cx="9525" cy="3371841"/>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34314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705093"/>
            <a:ext cx="5785089" cy="3009892"/>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Every car window, seatbelt and tyre carries a small production date. DateCode Detective reads these stamps from photos and compares them with the car's build year; a part much newer than the car was probably replaced.</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A replaced windscreen or belt can mean a past accident. Sellers can prove originality, and buyers can spot hidden history.</a:t>
            </a:r>
          </a:p>
        </p:txBody>
      </p:sp>
      <p:sp>
        <p:nvSpPr>
          <p:cNvPr id="8" name="TextBox 7"/>
          <p:cNvSpPr txBox="1"/>
          <p:nvPr/>
        </p:nvSpPr>
        <p:spPr>
          <a:xfrm>
            <a:off x="7461485" y="2343144"/>
            <a:ext cx="3892286" cy="3371841"/>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seller proves all glass is original</a:t>
            </a:r>
          </a:p>
          <a:p>
            <a:pPr>
              <a:lnSpc>
                <a:spcPct val="140000"/>
              </a:lnSpc>
              <a:spcBef>
                <a:spcPts val="0"/>
              </a:spcBef>
              <a:spcAft>
                <a:spcPts val="800"/>
              </a:spcAft>
            </a:pPr>
            <a:r>
              <a:rPr sz="1350" b="0">
                <a:solidFill>
                  <a:srgbClr val="4A4741"/>
                </a:solidFill>
                <a:latin typeface="Helvetica Neue"/>
              </a:rPr>
              <a:t>–  A buyer finds a replaced windscreen</a:t>
            </a:r>
          </a:p>
          <a:p>
            <a:pPr>
              <a:lnSpc>
                <a:spcPct val="140000"/>
              </a:lnSpc>
              <a:spcBef>
                <a:spcPts val="0"/>
              </a:spcBef>
              <a:spcAft>
                <a:spcPts val="800"/>
              </a:spcAft>
            </a:pPr>
            <a:r>
              <a:rPr sz="1350" b="0">
                <a:solidFill>
                  <a:srgbClr val="4A4741"/>
                </a:solidFill>
                <a:latin typeface="Helvetica Neue"/>
              </a:rPr>
              <a:t>–  A dealer adds an originality certificate</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Dealers and trade-in desks.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[54][55]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184</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5.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90 / 91 · INSPECTORS &amp; TRADE-IN</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RepaintRadar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Shows which car panels were repainted, so inspectors know where to measure.</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Sweep a phone torch over each panel for 20 seconds. RepaintRadar compares the paint's texture and colour with neighbouring panels and ranks the three panels most likely repainted, for checking with a paint gauge.</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Repaint usually hides damage. In one study, about 38% of 15,236 cars had unrecorded repairs.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An inspector checks the right panels first</a:t>
            </a:r>
          </a:p>
          <a:p>
            <a:pPr>
              <a:lnSpc>
                <a:spcPct val="140000"/>
              </a:lnSpc>
              <a:spcBef>
                <a:spcPts val="0"/>
              </a:spcBef>
              <a:spcAft>
                <a:spcPts val="800"/>
              </a:spcAft>
            </a:pPr>
            <a:r>
              <a:rPr sz="1350" b="0">
                <a:solidFill>
                  <a:srgbClr val="4A4741"/>
                </a:solidFill>
                <a:latin typeface="Helvetica Neue"/>
              </a:rPr>
              <a:t>–  A buyer screens a car before inspection</a:t>
            </a:r>
          </a:p>
          <a:p>
            <a:pPr>
              <a:lnSpc>
                <a:spcPct val="140000"/>
              </a:lnSpc>
              <a:spcBef>
                <a:spcPts val="0"/>
              </a:spcBef>
              <a:spcAft>
                <a:spcPts val="800"/>
              </a:spcAft>
            </a:pPr>
            <a:r>
              <a:rPr sz="1350" b="0">
                <a:solidFill>
                  <a:srgbClr val="4A4741"/>
                </a:solidFill>
                <a:latin typeface="Helvetica Neue"/>
              </a:rPr>
              <a:t>–  A trade-in desk prices repainted cars fairly</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Car inspectors, trade-in desks and buyers.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[56][57]</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186</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7.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TIER C · 91 / 91 · TAXI PARKS &amp; INSURERS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Podstava Radar</a:t>
            </a:r>
          </a:p>
        </p:txBody>
      </p:sp>
      <p:sp>
        <p:nvSpPr>
          <p:cNvPr id="4" name="TextBox 3"/>
          <p:cNvSpPr txBox="1"/>
          <p:nvPr/>
        </p:nvSpPr>
        <p:spPr>
          <a:xfrm>
            <a:off x="838197" y="1485896"/>
            <a:ext cx="8381979" cy="609598"/>
          </a:xfrm>
          <a:prstGeom prst="rect">
            <a:avLst/>
          </a:prstGeom>
          <a:noFill/>
        </p:spPr>
        <p:txBody>
          <a:bodyPr wrap="square" anchor="t" lIns="0" rIns="0" tIns="0" bIns="0">
            <a:spAutoFit/>
          </a:bodyPr>
          <a:lstStyle/>
          <a:p>
            <a:pPr>
              <a:lnSpc>
                <a:spcPct val="142000"/>
              </a:lnSpc>
              <a:spcBef>
                <a:spcPts val="0"/>
              </a:spcBef>
              <a:spcAft>
                <a:spcPts val="0"/>
              </a:spcAft>
            </a:pPr>
            <a:r>
              <a:rPr sz="1575" b="0">
                <a:solidFill>
                  <a:srgbClr val="4A4741"/>
                </a:solidFill>
                <a:latin typeface="Helvetica Neue"/>
              </a:rPr>
              <a:t>Measures braking in dashcam video to help settle staged rear-end crashes.</a:t>
            </a:r>
          </a:p>
        </p:txBody>
      </p:sp>
      <p:sp>
        <p:nvSpPr>
          <p:cNvPr id="5" name="Rectangle 4"/>
          <p:cNvSpPr/>
          <p:nvPr/>
        </p:nvSpPr>
        <p:spPr>
          <a:xfrm>
            <a:off x="7042386" y="2057394"/>
            <a:ext cx="9525" cy="3657590"/>
          </a:xfrm>
          <a:prstGeom prst="rect">
            <a:avLst/>
          </a:prstGeom>
          <a:solidFill>
            <a:srgbClr val="DE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197" y="2057394"/>
            <a:ext cx="5785089" cy="228599"/>
          </a:xfrm>
          <a:prstGeom prst="rect">
            <a:avLst/>
          </a:prstGeom>
          <a:noFill/>
        </p:spPr>
        <p:txBody>
          <a:bodyPr wrap="square" anchor="t" lIns="0" rIns="0" tIns="0" bIns="0">
            <a:spAutoFit/>
          </a:bodyPr>
          <a:lstStyle/>
          <a:p>
            <a:pPr>
              <a:spcBef>
                <a:spcPts val="0"/>
              </a:spcBef>
              <a:spcAft>
                <a:spcPts val="0"/>
              </a:spcAft>
            </a:pPr>
            <a:r>
              <a:rPr sz="1050" b="1">
                <a:solidFill>
                  <a:srgbClr val="31623D"/>
                </a:solidFill>
                <a:latin typeface="Helvetica Neue"/>
              </a:rPr>
              <a:t>WHAT IT DOES</a:t>
            </a:r>
          </a:p>
        </p:txBody>
      </p:sp>
      <p:sp>
        <p:nvSpPr>
          <p:cNvPr id="7" name="TextBox 6"/>
          <p:cNvSpPr txBox="1"/>
          <p:nvPr/>
        </p:nvSpPr>
        <p:spPr>
          <a:xfrm>
            <a:off x="838197" y="2419343"/>
            <a:ext cx="5785089" cy="3295641"/>
          </a:xfrm>
          <a:prstGeom prst="rect">
            <a:avLst/>
          </a:prstGeom>
          <a:noFill/>
        </p:spPr>
        <p:txBody>
          <a:bodyPr wrap="square" anchor="t" lIns="0" rIns="0" tIns="0" bIns="0">
            <a:spAutoFit/>
          </a:bodyPr>
          <a:lstStyle/>
          <a:p>
            <a:pPr>
              <a:lnSpc>
                <a:spcPct val="145000"/>
              </a:lnSpc>
              <a:spcBef>
                <a:spcPts val="0"/>
              </a:spcBef>
              <a:spcAft>
                <a:spcPts val="0"/>
              </a:spcAft>
            </a:pPr>
            <a:r>
              <a:rPr sz="1575" b="0">
                <a:solidFill>
                  <a:srgbClr val="1A1917"/>
                </a:solidFill>
                <a:latin typeface="Helvetica Neue"/>
              </a:rPr>
              <a:t>Before a rear-end crash, the dashcam shows how the car in front behaved. Podstava Radar measures the distance, when the brake lights came on and how fast the gap closed, and builds a timeline. It reports facts only, not who is guilty.</a:t>
            </a:r>
          </a:p>
          <a:p>
            <a:pPr>
              <a:spcBef>
                <a:spcPts val="1800"/>
              </a:spcBef>
              <a:spcAft>
                <a:spcPts val="800"/>
              </a:spcAft>
            </a:pPr>
            <a:r>
              <a:rPr sz="1050" b="1">
                <a:solidFill>
                  <a:srgbClr val="31623D"/>
                </a:solidFill>
                <a:latin typeface="Helvetica Neue"/>
              </a:rPr>
              <a:t>WHY IT MATTERS</a:t>
            </a:r>
          </a:p>
          <a:p>
            <a:pPr>
              <a:lnSpc>
                <a:spcPct val="145000"/>
              </a:lnSpc>
              <a:spcBef>
                <a:spcPts val="0"/>
              </a:spcBef>
              <a:spcAft>
                <a:spcPts val="0"/>
              </a:spcAft>
            </a:pPr>
            <a:r>
              <a:rPr sz="1575" b="0">
                <a:solidFill>
                  <a:srgbClr val="1A1917"/>
                </a:solidFill>
                <a:latin typeface="Helvetica Neue"/>
              </a:rPr>
              <a:t>In staged crashes ("podstava"), a car brakes suddenly so you hit it. Clear measurements help taxi drivers and insurers settle such disputes.</a:t>
            </a:r>
          </a:p>
        </p:txBody>
      </p:sp>
      <p:sp>
        <p:nvSpPr>
          <p:cNvPr id="8" name="TextBox 7"/>
          <p:cNvSpPr txBox="1"/>
          <p:nvPr/>
        </p:nvSpPr>
        <p:spPr>
          <a:xfrm>
            <a:off x="7461485" y="2057394"/>
            <a:ext cx="3892286" cy="3657590"/>
          </a:xfrm>
          <a:prstGeom prst="rect">
            <a:avLst/>
          </a:prstGeom>
          <a:noFill/>
        </p:spPr>
        <p:txBody>
          <a:bodyPr wrap="square" anchor="t" lIns="0" rIns="0" tIns="0" bIns="0">
            <a:spAutoFit/>
          </a:bodyPr>
          <a:lstStyle/>
          <a:p>
            <a:pPr>
              <a:spcBef>
                <a:spcPts val="0"/>
              </a:spcBef>
              <a:spcAft>
                <a:spcPts val="1000"/>
              </a:spcAft>
            </a:pPr>
            <a:r>
              <a:rPr sz="1050" b="1">
                <a:solidFill>
                  <a:srgbClr val="31623D"/>
                </a:solidFill>
                <a:latin typeface="Helvetica Neue"/>
              </a:rPr>
              <a:t>USE CASES</a:t>
            </a:r>
          </a:p>
          <a:p>
            <a:pPr>
              <a:lnSpc>
                <a:spcPct val="140000"/>
              </a:lnSpc>
              <a:spcBef>
                <a:spcPts val="0"/>
              </a:spcBef>
              <a:spcAft>
                <a:spcPts val="800"/>
              </a:spcAft>
            </a:pPr>
            <a:r>
              <a:rPr sz="1350" b="0">
                <a:solidFill>
                  <a:srgbClr val="4A4741"/>
                </a:solidFill>
                <a:latin typeface="Helvetica Neue"/>
              </a:rPr>
              <a:t>–  A taxi park defends a driver in a dispute</a:t>
            </a:r>
          </a:p>
          <a:p>
            <a:pPr>
              <a:lnSpc>
                <a:spcPct val="140000"/>
              </a:lnSpc>
              <a:spcBef>
                <a:spcPts val="0"/>
              </a:spcBef>
              <a:spcAft>
                <a:spcPts val="800"/>
              </a:spcAft>
            </a:pPr>
            <a:r>
              <a:rPr sz="1350" b="0">
                <a:solidFill>
                  <a:srgbClr val="4A4741"/>
                </a:solidFill>
                <a:latin typeface="Helvetica Neue"/>
              </a:rPr>
              <a:t>–  An insurer reviews a suspicious rear-end claim</a:t>
            </a:r>
          </a:p>
          <a:p>
            <a:pPr>
              <a:lnSpc>
                <a:spcPct val="140000"/>
              </a:lnSpc>
              <a:spcBef>
                <a:spcPts val="0"/>
              </a:spcBef>
              <a:spcAft>
                <a:spcPts val="800"/>
              </a:spcAft>
            </a:pPr>
            <a:r>
              <a:rPr sz="1350" b="0">
                <a:solidFill>
                  <a:srgbClr val="4A4741"/>
                </a:solidFill>
                <a:latin typeface="Helvetica Neue"/>
              </a:rPr>
              <a:t>–  A driver shows the car ahead braked without reason</a:t>
            </a:r>
          </a:p>
          <a:p>
            <a:pPr>
              <a:spcBef>
                <a:spcPts val="1600"/>
              </a:spcBef>
              <a:spcAft>
                <a:spcPts val="800"/>
              </a:spcAft>
            </a:pPr>
            <a:r>
              <a:rPr sz="1050" b="1">
                <a:solidFill>
                  <a:srgbClr val="31623D"/>
                </a:solidFill>
                <a:latin typeface="Helvetica Neue"/>
              </a:rPr>
              <a:t>WHO BUYS IT</a:t>
            </a:r>
          </a:p>
          <a:p>
            <a:pPr>
              <a:lnSpc>
                <a:spcPct val="140000"/>
              </a:lnSpc>
              <a:spcBef>
                <a:spcPts val="0"/>
              </a:spcBef>
              <a:spcAft>
                <a:spcPts val="0"/>
              </a:spcAft>
            </a:pPr>
            <a:r>
              <a:rPr sz="1350" b="0">
                <a:solidFill>
                  <a:srgbClr val="4A4741"/>
                </a:solidFill>
                <a:latin typeface="Helvetica Neue"/>
              </a:rPr>
              <a:t>Taxi parks and insurers.</a:t>
            </a:r>
          </a:p>
        </p:txBody>
      </p:sp>
      <p:sp>
        <p:nvSpPr>
          <p:cNvPr id="9" name="TextBox 8"/>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Automotive CV hackathon ideas (10 Oct 2026), refs [65]</a:t>
            </a:r>
          </a:p>
        </p:txBody>
      </p:sp>
      <p:sp>
        <p:nvSpPr>
          <p:cNvPr id="10" name="TextBox 9"/>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188</a:t>
            </a:r>
          </a:p>
        </p:txBody>
      </p:sp>
      <p:sp>
        <p:nvSpPr>
          <p:cNvPr id="11" name="Rectangle 10"/>
          <p:cNvSpPr/>
          <p:nvPr/>
        </p:nvSpPr>
        <p:spPr>
          <a:xfrm>
            <a:off x="0" y="0"/>
            <a:ext cx="12191969" cy="66674"/>
          </a:xfrm>
          <a:prstGeom prst="rect">
            <a:avLst/>
          </a:prstGeom>
          <a:solidFill>
            <a:srgbClr val="3F7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9.png"/>
          <p:cNvPicPr>
            <a:picLocks noChangeAspect="1"/>
          </p:cNvPicPr>
          <p:nvPr/>
        </p:nvPicPr>
        <p:blipFill>
          <a:blip r:embed="rId2"/>
          <a:stretch>
            <a:fillRect/>
          </a:stretch>
        </p:blipFill>
        <p:spPr>
          <a:xfrm>
            <a:off x="0" y="0"/>
            <a:ext cx="12191969" cy="6858000"/>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PITCHING TO INVESTORS</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How to pitch any of these</a:t>
            </a:r>
          </a:p>
        </p:txBody>
      </p:sp>
      <p:sp>
        <p:nvSpPr>
          <p:cNvPr id="4" name="Rectangle 3"/>
          <p:cNvSpPr/>
          <p:nvPr/>
        </p:nvSpPr>
        <p:spPr>
          <a:xfrm>
            <a:off x="838197" y="1733545"/>
            <a:ext cx="10515573" cy="1428746"/>
          </a:xfrm>
          <a:prstGeom prst="rect">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38197" y="1733545"/>
            <a:ext cx="66674" cy="1428746"/>
          </a:xfrm>
          <a:prstGeom prst="rect">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0146" y="2019294"/>
            <a:ext cx="9791675" cy="723898"/>
          </a:xfrm>
          <a:prstGeom prst="rect">
            <a:avLst/>
          </a:prstGeom>
          <a:noFill/>
        </p:spPr>
        <p:txBody>
          <a:bodyPr wrap="square" anchor="t" lIns="0" rIns="0" tIns="0" bIns="0">
            <a:spAutoFit/>
          </a:bodyPr>
          <a:lstStyle/>
          <a:p>
            <a:pPr>
              <a:lnSpc>
                <a:spcPct val="134000"/>
              </a:lnSpc>
              <a:spcBef>
                <a:spcPts val="0"/>
              </a:spcBef>
              <a:spcAft>
                <a:spcPts val="0"/>
              </a:spcAft>
            </a:pPr>
            <a:r>
              <a:rPr sz="2025" b="1">
                <a:solidFill>
                  <a:srgbClr val="24625A"/>
                </a:solidFill>
                <a:latin typeface="Helvetica Neue"/>
              </a:rPr>
              <a:t>Lead with the money: who pays, how much, how often.</a:t>
            </a:r>
          </a:p>
        </p:txBody>
      </p:sp>
      <p:sp>
        <p:nvSpPr>
          <p:cNvPr id="7" name="TextBox 6"/>
          <p:cNvSpPr txBox="1"/>
          <p:nvPr/>
        </p:nvSpPr>
        <p:spPr>
          <a:xfrm>
            <a:off x="1200146" y="2628893"/>
            <a:ext cx="9791675" cy="723898"/>
          </a:xfrm>
          <a:prstGeom prst="rect">
            <a:avLst/>
          </a:prstGeom>
          <a:noFill/>
        </p:spPr>
        <p:txBody>
          <a:bodyPr wrap="square" anchor="t" lIns="0" rIns="0" tIns="0" bIns="0">
            <a:spAutoFit/>
          </a:bodyPr>
          <a:lstStyle/>
          <a:p>
            <a:pPr>
              <a:lnSpc>
                <a:spcPct val="150000"/>
              </a:lnSpc>
              <a:spcBef>
                <a:spcPts val="0"/>
              </a:spcBef>
              <a:spcAft>
                <a:spcPts val="0"/>
              </a:spcAft>
            </a:pPr>
            <a:r>
              <a:rPr sz="1425" b="0">
                <a:solidFill>
                  <a:srgbClr val="4A4741"/>
                </a:solidFill>
                <a:latin typeface="Helvetica Neue"/>
              </a:rPr>
              <a:t>Put revenue math on one slide; cost per inspection is $0.0003–0.01, so gross margin can top 90%. Name a design partner in the room (MKBANK, Uzcard, BYD Royal Motors, the Central Bank). Show the path from one module to a platform and the next two markets.</a:t>
            </a:r>
          </a:p>
        </p:txBody>
      </p:sp>
      <p:sp>
        <p:nvSpPr>
          <p:cNvPr id="8" name="TextBox 7"/>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shared build kit and hackathon intel</a:t>
            </a:r>
          </a:p>
        </p:txBody>
      </p:sp>
      <p:sp>
        <p:nvSpPr>
          <p:cNvPr id="9" name="TextBox 8"/>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190</a:t>
            </a:r>
          </a:p>
        </p:txBody>
      </p:sp>
      <p:sp>
        <p:nvSpPr>
          <p:cNvPr id="10" name="Rectangle 9"/>
          <p:cNvSpPr/>
          <p:nvPr/>
        </p:nvSpPr>
        <p:spPr>
          <a:xfrm>
            <a:off x="0" y="0"/>
            <a:ext cx="12191969" cy="66674"/>
          </a:xfrm>
          <a:prstGeom prst="rect">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838197" y="685798"/>
            <a:ext cx="10515573" cy="228599"/>
          </a:xfrm>
          <a:prstGeom prst="rect">
            <a:avLst/>
          </a:prstGeom>
          <a:noFill/>
        </p:spPr>
        <p:txBody>
          <a:bodyPr wrap="square" anchor="t" lIns="0" rIns="0" tIns="0" bIns="0">
            <a:spAutoFit/>
          </a:bodyPr>
          <a:lstStyle/>
          <a:p>
            <a:pPr>
              <a:spcBef>
                <a:spcPts val="0"/>
              </a:spcBef>
              <a:spcAft>
                <a:spcPts val="0"/>
              </a:spcAft>
            </a:pPr>
            <a:r>
              <a:rPr sz="975" b="1">
                <a:solidFill>
                  <a:srgbClr val="7C7871"/>
                </a:solidFill>
                <a:latin typeface="Helvetica Neue"/>
              </a:rPr>
              <a:t>BEFORE YOU QUOTE A NUMBER</a:t>
            </a:r>
          </a:p>
        </p:txBody>
      </p:sp>
      <p:sp>
        <p:nvSpPr>
          <p:cNvPr id="3" name="TextBox 2"/>
          <p:cNvSpPr txBox="1"/>
          <p:nvPr/>
        </p:nvSpPr>
        <p:spPr>
          <a:xfrm>
            <a:off x="838197" y="933447"/>
            <a:ext cx="8572478" cy="495298"/>
          </a:xfrm>
          <a:prstGeom prst="rect">
            <a:avLst/>
          </a:prstGeom>
          <a:noFill/>
        </p:spPr>
        <p:txBody>
          <a:bodyPr wrap="square" anchor="t" lIns="0" rIns="0" tIns="0" bIns="0">
            <a:spAutoFit/>
          </a:bodyPr>
          <a:lstStyle/>
          <a:p>
            <a:pPr>
              <a:lnSpc>
                <a:spcPct val="114000"/>
              </a:lnSpc>
              <a:spcBef>
                <a:spcPts val="0"/>
              </a:spcBef>
              <a:spcAft>
                <a:spcPts val="0"/>
              </a:spcAft>
            </a:pPr>
            <a:r>
              <a:rPr sz="3000" b="1">
                <a:solidFill>
                  <a:srgbClr val="1A1917"/>
                </a:solidFill>
                <a:latin typeface="Helvetica Neue"/>
              </a:rPr>
              <a:t>What is still unverified</a:t>
            </a:r>
          </a:p>
        </p:txBody>
      </p:sp>
      <p:sp>
        <p:nvSpPr>
          <p:cNvPr id="4" name="Rectangle 3"/>
          <p:cNvSpPr/>
          <p:nvPr/>
        </p:nvSpPr>
        <p:spPr>
          <a:xfrm>
            <a:off x="838197" y="1733545"/>
            <a:ext cx="10515573" cy="1428746"/>
          </a:xfrm>
          <a:prstGeom prst="rect">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38197" y="1733545"/>
            <a:ext cx="66674" cy="1428746"/>
          </a:xfrm>
          <a:prstGeom prst="rect">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0146" y="2019294"/>
            <a:ext cx="9791675" cy="723898"/>
          </a:xfrm>
          <a:prstGeom prst="rect">
            <a:avLst/>
          </a:prstGeom>
          <a:noFill/>
        </p:spPr>
        <p:txBody>
          <a:bodyPr wrap="square" anchor="t" lIns="0" rIns="0" tIns="0" bIns="0">
            <a:spAutoFit/>
          </a:bodyPr>
          <a:lstStyle/>
          <a:p>
            <a:pPr>
              <a:lnSpc>
                <a:spcPct val="134000"/>
              </a:lnSpc>
              <a:spcBef>
                <a:spcPts val="0"/>
              </a:spcBef>
              <a:spcAft>
                <a:spcPts val="0"/>
              </a:spcAft>
            </a:pPr>
            <a:r>
              <a:rPr sz="2025" b="1">
                <a:solidFill>
                  <a:srgbClr val="24625A"/>
                </a:solidFill>
                <a:latin typeface="Helvetica Neue"/>
              </a:rPr>
              <a:t>Every price is an estimate; no customer has confirmed they would pay.</a:t>
            </a:r>
          </a:p>
        </p:txBody>
      </p:sp>
      <p:sp>
        <p:nvSpPr>
          <p:cNvPr id="7" name="TextBox 6"/>
          <p:cNvSpPr txBox="1"/>
          <p:nvPr/>
        </p:nvSpPr>
        <p:spPr>
          <a:xfrm>
            <a:off x="1200146" y="2628893"/>
            <a:ext cx="9791675" cy="723898"/>
          </a:xfrm>
          <a:prstGeom prst="rect">
            <a:avLst/>
          </a:prstGeom>
          <a:noFill/>
        </p:spPr>
        <p:txBody>
          <a:bodyPr wrap="square" anchor="t" lIns="0" rIns="0" tIns="0" bIns="0">
            <a:spAutoFit/>
          </a:bodyPr>
          <a:lstStyle/>
          <a:p>
            <a:pPr>
              <a:lnSpc>
                <a:spcPct val="150000"/>
              </a:lnSpc>
              <a:spcBef>
                <a:spcPts val="0"/>
              </a:spcBef>
              <a:spcAft>
                <a:spcPts val="0"/>
              </a:spcAft>
            </a:pPr>
            <a:r>
              <a:rPr sz="1425" b="0">
                <a:solidFill>
                  <a:srgbClr val="4A4741"/>
                </a:solidFill>
                <a:latin typeface="Helvetica Neue"/>
              </a:rPr>
              <a:t>Some facts rest on one weak source: the UZS rate, "1,700 fines in 3 days", Cobalt's 30.1% share. No source was found for the helmet rule, truck overhang limit, minimum yellow time or a CNG passenger-exit rule. Phone-browser speeds are unmeasured.</a:t>
            </a:r>
          </a:p>
        </p:txBody>
      </p:sp>
      <p:sp>
        <p:nvSpPr>
          <p:cNvPr id="8" name="TextBox 7"/>
          <p:cNvSpPr txBox="1"/>
          <p:nvPr/>
        </p:nvSpPr>
        <p:spPr>
          <a:xfrm>
            <a:off x="838197" y="6438883"/>
            <a:ext cx="9334476" cy="285749"/>
          </a:xfrm>
          <a:prstGeom prst="rect">
            <a:avLst/>
          </a:prstGeom>
          <a:noFill/>
        </p:spPr>
        <p:txBody>
          <a:bodyPr wrap="square" anchor="t" lIns="0" rIns="0" tIns="0" bIns="0">
            <a:spAutoFit/>
          </a:bodyPr>
          <a:lstStyle/>
          <a:p>
            <a:pPr>
              <a:spcBef>
                <a:spcPts val="0"/>
              </a:spcBef>
              <a:spcAft>
                <a:spcPts val="0"/>
              </a:spcAft>
            </a:pPr>
            <a:r>
              <a:rPr sz="937" b="0">
                <a:solidFill>
                  <a:srgbClr val="7C7871"/>
                </a:solidFill>
                <a:latin typeface="Helvetica Neue"/>
              </a:rPr>
              <a:t>Report writer's caveats, 10 Oct 2026</a:t>
            </a:r>
          </a:p>
        </p:txBody>
      </p:sp>
      <p:sp>
        <p:nvSpPr>
          <p:cNvPr id="9" name="TextBox 8"/>
          <p:cNvSpPr txBox="1"/>
          <p:nvPr/>
        </p:nvSpPr>
        <p:spPr>
          <a:xfrm>
            <a:off x="10382224" y="6438883"/>
            <a:ext cx="971547" cy="285749"/>
          </a:xfrm>
          <a:prstGeom prst="rect">
            <a:avLst/>
          </a:prstGeom>
          <a:noFill/>
        </p:spPr>
        <p:txBody>
          <a:bodyPr wrap="square" anchor="t" lIns="0" rIns="0" tIns="0" bIns="0">
            <a:spAutoFit/>
          </a:bodyPr>
          <a:lstStyle/>
          <a:p>
            <a:pPr algn="r"/>
            <a:r>
              <a:rPr sz="937" b="0">
                <a:solidFill>
                  <a:srgbClr val="7C7871"/>
                </a:solidFill>
                <a:latin typeface="Helvetica Neue"/>
              </a:rPr>
              <a:t>191</a:t>
            </a:r>
          </a:p>
        </p:txBody>
      </p:sp>
      <p:sp>
        <p:nvSpPr>
          <p:cNvPr id="10" name="Rectangle 9"/>
          <p:cNvSpPr/>
          <p:nvPr/>
        </p:nvSpPr>
        <p:spPr>
          <a:xfrm>
            <a:off x="0" y="0"/>
            <a:ext cx="12191969" cy="66674"/>
          </a:xfrm>
          <a:prstGeom prst="rect">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